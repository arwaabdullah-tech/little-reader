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rtl="1" saveSubsetFonts="1" autoCompressPictures="0">
  <p:sldMasterIdLst>
    <p:sldMasterId id="2147483648" r:id="rId1"/>
  </p:sldMasterIdLst>
  <p:sldIdLst>
    <p:sldId id="273" r:id="rIdCover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embeddedFontLst>
    <p:embeddedFont>
      <p:font typeface="Cairo Bold" charset="1" panose="00000800000000000000"/>
      <p:regular r:id="rIdFont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Cover" Type="http://schemas.openxmlformats.org/officeDocument/2006/relationships/slide" Target="slides/slide18.xml"/><Relationship Id="rIdFont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بالسؤال الذي يعرفه كل والد: كيف كان يومك؟ والجواب: زين. ثم الرقم: 59% من الأطفال في منطقتنا في فقر التعلّم حسب البنك الدولي. ثلاثة أسباب: فجوة اللهجة والفصحى، قصص لا تشبه الطفل، ووقت والدين قصير.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الحل: القارئ الصغير. عشر دقائق قبل النوم. الطفل يحكي، والذكاء الاصطناعي يكتب ويرسم، والعائلة تقرأ معًا. يعمل على الجوال والحاسوب، بالعربية والإنجليزية، بلا تثبيت.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اسم المنهج «حكاية»، كل حرف خطوة: حديث، كتاب، ارتقاء، يُطوى اليوم. وفي الصباح ملخّص للوالدين.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الخطوة الأولى: حديث. الهدهد يسأل ثلاثة أسئلة، كل سؤال يبني مهارة: الامتنان، تسمية المشاعر، التعاطف. والطفل يجيب بصوته.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الخطوة الثانية: كتاب. أربع مراحل يراها الطفل أمامه: فحص الأمان، كتابة القصة، جسر اللهجة إلى الفصحى، ثم الرسم.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الإعداد مرة واحدة: موافقة الوالد، الاسم والعمر ووقت النوم، ثم صورة تتحول إلى بطل كرتوني. لا نخزّن الصورة الأصلية.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الخطوة الثالثة: ارتقاء. صفحة حقيقية من كتاب شهد. الأم تقرأ النص الطويل، وشهد تقرأ جملتها. ويمكن أن يقرأ الهدهد بصوت طبيعي.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كتاب حقيقي أنتجه التطبيق. لاحظوا كيف تحوّلت جملة شهد العامية «خفت أغلط» إلى فصحى في الكتاب «خفت أن أخطئ»، وتحوّل الخوف إلى درس في الشجاعة.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الخطوة الرابعة: يُطوى اليوم. مهمة صغيرة للغد، والكتاب يُضاف إلى مكتبة الطفل، ثم ينام التطبيق حتى الصباح. نحن نصمم ضد الإدمان.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الصباح يرى الوالد لوحة بسيطة: ليالٍ فيها كتاب، دقائق معًا، كلمات فصحى جديدة، معلومات، ومنحنى الكلمات التي قرأها الطفل وحده. وأهم شيء: سؤال للفطور يفتح حوارًا حقيقيًا. (الأرقام على الشريحة من بيانات العرض التجريبي.)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تطبيق ويب يعمل في أي متصفح على الجوال والجهاز اللوحي والحاسوب، بالعربية من اليمين إلى اليسار، وبالإنجليزية.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الأمان مبني في كل خطوة: موافقة أولًا، فحص لكل قصة، لا نخزّن الصورة الأصلية ولا الصوت، وحذف بزر 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المنتج يعمل الآن: موقع، وتطبيق ويب، وخادم ذكاء اصطناعي. كل نداءات الذكاء الاصطناعي من الخادم، ووضع العرض لا يتوقف حتى لو انقطع الاتصال.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نموذج مقترح: مجاني للتجربة، اشتراك عائلي، وترخيص للمدارس والشركاء مع كتاب مطبوع آخر العام. والأثر نقيسه من داخل المنتج كل ليلة.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نختم بالجملة التي بدأنا بها: كل يوم في حياة طفل حكاية تستحق أن تُقرأ. نطلب تجربة ميدانية مع 50 عائلة وشركاء. الليلة، ماذا سيحكي طفلك؟ شكرًا.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jp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jp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cover-image1.png" Type="http://schemas.openxmlformats.org/officeDocument/2006/relationships/image"/><Relationship Id="rId3" Target="../media/cover-image2.png" Type="http://schemas.openxmlformats.org/officeDocument/2006/relationships/image"/><Relationship Id="rId4" Target="../media/cover-image3.jpeg" Type="http://schemas.openxmlformats.org/officeDocument/2006/relationships/image"/><Relationship Id="rId5" Target="../media/cover-image4.png" Type="http://schemas.openxmlformats.org/officeDocument/2006/relationships/imag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المشكلة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«كيف كان يومك؟»…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«زين»</a:t>
            </a:r>
            <a:endParaRPr lang="ar-SA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ليلة يضيع يوم كامل من حياة الطفل بلا كلمات، وتبقى القراءة بالفصحى واجبًا ثقيلًا بدل أن تكون متعة.</a:t>
            </a:r>
            <a:endParaRPr lang="ar-SA" sz="2000" dirty="0"/>
          </a:p>
        </p:txBody>
      </p:sp>
      <p:sp>
        <p:nvSpPr>
          <p:cNvPr id="5" name="Shape 3"/>
          <p:cNvSpPr/>
          <p:nvPr/>
        </p:nvSpPr>
        <p:spPr>
          <a:xfrm>
            <a:off x="16687800" y="3520440"/>
            <a:ext cx="777240" cy="777240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0" y="3703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0" y="348386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فجوة اللهجة والفصحى</a:t>
            </a:r>
            <a:endParaRPr lang="ar-S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941064"/>
            <a:ext cx="8549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يتكلم الطفل بلهجته في البيت، ثم يُطلب منه أن يقرأ لغة لا تشبه كلامه.</a:t>
            </a:r>
            <a:endParaRPr lang="ar-SA" sz="1500" dirty="0"/>
          </a:p>
        </p:txBody>
      </p:sp>
      <p:sp>
        <p:nvSpPr>
          <p:cNvPr id="9" name="Shape 6"/>
          <p:cNvSpPr/>
          <p:nvPr/>
        </p:nvSpPr>
        <p:spPr>
          <a:xfrm>
            <a:off x="16687800" y="5120640"/>
            <a:ext cx="777240" cy="777240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0" y="5303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863840" y="508406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قصص لا تشبهه</a:t>
            </a:r>
            <a:endParaRPr lang="ar-SA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5541264"/>
            <a:ext cx="8549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الكتب العامة لا تعرف اسمه ولا مدرسته ولا ما حدث معه اليوم، فلا يتعلّق بها.</a:t>
            </a:r>
            <a:endParaRPr lang="ar-SA" sz="1500" dirty="0"/>
          </a:p>
        </p:txBody>
      </p:sp>
      <p:sp>
        <p:nvSpPr>
          <p:cNvPr id="13" name="Shape 9"/>
          <p:cNvSpPr/>
          <p:nvPr/>
        </p:nvSpPr>
        <p:spPr>
          <a:xfrm>
            <a:off x="16687800" y="6720840"/>
            <a:ext cx="777240" cy="777240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680" y="69037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63840" y="668426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وقت الوالدين قصير</a:t>
            </a:r>
            <a:endParaRPr lang="ar-SA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7863840" y="7141464"/>
            <a:ext cx="8549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الشاشات سلبية، والوالد المتعب لا يجد كتابًا مناسبًا ولا سؤالًا يفتح الحديث.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822960" y="2240280"/>
            <a:ext cx="6309360" cy="6675120"/>
          </a:xfrm>
          <a:prstGeom prst="roundRect">
            <a:avLst>
              <a:gd name="adj" fmla="val 4348"/>
            </a:avLst>
          </a:prstGeom>
          <a:solidFill>
            <a:srgbClr val="2A2F7A">
              <a:alpha val="85000"/>
            </a:srgbClr>
          </a:solidFill>
          <a:ln w="12700">
            <a:solidFill>
              <a:srgbClr val="4A4FA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188720" y="292608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20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59%</a:t>
            </a:r>
            <a:endParaRPr lang="ar-SA" sz="12000" dirty="0"/>
          </a:p>
        </p:txBody>
      </p:sp>
      <p:sp>
        <p:nvSpPr>
          <p:cNvPr id="19" name="Text 14"/>
          <p:cNvSpPr txBox="1"/>
          <p:nvPr/>
        </p:nvSpPr>
        <p:spPr>
          <a:xfrm>
            <a:off x="1280160" y="51206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2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 أطفال الشرق الأوسط وشمال أفريقيا في «فقر التعلّم»</a:t>
            </a:r>
            <a:endParaRPr lang="ar-SA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1280160" y="6355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7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يستطيعون في سن العاشرة قراءة نص بسيط وفهمه.</a:t>
            </a:r>
            <a:endParaRPr lang="ar-SA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1280160" y="8138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200" dirty="0">
                <a:solidFill>
                  <a:srgbClr val="A9AED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المصدر: البنك الدولي، 2021</a:t>
            </a:r>
            <a:endParaRPr lang="ar-SA" sz="1200" dirty="0"/>
          </a:p>
        </p:txBody>
      </p:sp>
      <p:pic>
        <p:nvPicPr>
          <p:cNvPr id="22" name="Image 3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02</a:t>
            </a:r>
            <a:endParaRPr lang="ar-S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الحل · القارئ الصغير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احكِ يومك…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واقرأ حكايتك</a:t>
            </a:r>
            <a:endParaRPr lang="ar-SA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228600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E4E5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طقس ما قبل النوم لمدة عشر دقائق للأطفال من 4 إلى 8 سنوات: يحكي الطفل يومه للهدهد، فيتحوّل يومه إلى كتاب مصوّر بالفصحى، بطلُه الطفل نفسه، يقرؤه مع والديه.</a:t>
            </a:r>
            <a:endParaRPr lang="ar-SA" sz="2000" dirty="0"/>
          </a:p>
        </p:txBody>
      </p:sp>
      <p:sp>
        <p:nvSpPr>
          <p:cNvPr id="5" name="Shape 3"/>
          <p:cNvSpPr/>
          <p:nvPr/>
        </p:nvSpPr>
        <p:spPr>
          <a:xfrm>
            <a:off x="16861536" y="4846320"/>
            <a:ext cx="603504" cy="603504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0" y="49926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607040" y="4892040"/>
            <a:ext cx="5980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طفلك هو البطل</a:t>
            </a:r>
            <a:endParaRPr lang="ar-SA" sz="2100" dirty="0"/>
          </a:p>
        </p:txBody>
      </p:sp>
      <p:sp>
        <p:nvSpPr>
          <p:cNvPr id="8" name="Shape 5"/>
          <p:cNvSpPr/>
          <p:nvPr/>
        </p:nvSpPr>
        <p:spPr>
          <a:xfrm>
            <a:off x="16861536" y="5760720"/>
            <a:ext cx="603504" cy="603504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0" y="590702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607040" y="5806440"/>
            <a:ext cx="5980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 لهجته إلى الفصحى</a:t>
            </a:r>
            <a:endParaRPr lang="ar-SA" sz="2100" dirty="0"/>
          </a:p>
        </p:txBody>
      </p:sp>
      <p:sp>
        <p:nvSpPr>
          <p:cNvPr id="11" name="Shape 7"/>
          <p:cNvSpPr/>
          <p:nvPr/>
        </p:nvSpPr>
        <p:spPr>
          <a:xfrm>
            <a:off x="16861536" y="6675120"/>
            <a:ext cx="603504" cy="603504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0" y="682142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607040" y="6720840"/>
            <a:ext cx="5980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معلومة حقيقية في كل قصة</a:t>
            </a:r>
            <a:endParaRPr lang="ar-SA" sz="2100" dirty="0"/>
          </a:p>
        </p:txBody>
      </p:sp>
      <p:sp>
        <p:nvSpPr>
          <p:cNvPr id="14" name="Shape 9"/>
          <p:cNvSpPr/>
          <p:nvPr/>
        </p:nvSpPr>
        <p:spPr>
          <a:xfrm>
            <a:off x="16861536" y="7589520"/>
            <a:ext cx="603504" cy="603504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40" y="7735824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607040" y="7635240"/>
            <a:ext cx="5980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الهدهد يقرأ بصوت طبيعي</a:t>
            </a:r>
            <a:endParaRPr lang="ar-SA" sz="2100" dirty="0"/>
          </a:p>
        </p:txBody>
      </p:sp>
      <p:sp>
        <p:nvSpPr>
          <p:cNvPr id="17" name="Shape 11"/>
          <p:cNvSpPr/>
          <p:nvPr/>
        </p:nvSpPr>
        <p:spPr>
          <a:xfrm>
            <a:off x="822960" y="2331720"/>
            <a:ext cx="9144000" cy="5436108"/>
          </a:xfrm>
          <a:prstGeom prst="roundRect">
            <a:avLst>
              <a:gd name="adj" fmla="val 3028"/>
            </a:avLst>
          </a:prstGeom>
          <a:solidFill>
            <a:srgbClr val="F2F0FF"/>
          </a:solidFill>
          <a:ln w="12700">
            <a:solidFill>
              <a:srgbClr val="F2F0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692640" y="2423160"/>
            <a:ext cx="118872" cy="118872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491472" y="2423160"/>
            <a:ext cx="118872" cy="118872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290304" y="2423160"/>
            <a:ext cx="118872" cy="118872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21" name="Image 4" descr="/tmp/claude-0/-home-user-little-reader/1894439b-687e-591f-a669-175efcd7d324/scratchpad/img/d-landing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2624328"/>
            <a:ext cx="9034272" cy="5081778"/>
          </a:xfrm>
          <a:prstGeom prst="rect">
            <a:avLst/>
          </a:prstGeom>
        </p:spPr>
      </p:pic>
      <p:pic>
        <p:nvPicPr>
          <p:cNvPr id="22" name="Image 5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03</a:t>
            </a:r>
            <a:endParaRPr lang="ar-SA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المنهجية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منهج «حكاية»: أربع خطوات…</a:t>
            </a:r>
            <a:pPr rtl="1" algn="r" indent="0" marL="0">
              <a:buNone/>
            </a:pPr>
            <a:r>
              <a:rPr lang="ar-SA" sz="44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وكتاب جديد كل ليلة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3853160" y="2514600"/>
            <a:ext cx="3611880" cy="39776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39160" y="2926080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139160" y="28986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40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</a:t>
            </a:r>
            <a:endParaRPr lang="ar-SA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4127480" y="4114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1FA383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 · حديث</a:t>
            </a:r>
            <a:endParaRPr lang="ar-SA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27480" y="4526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يحكي الطفل يومه</a:t>
            </a:r>
            <a:endParaRPr lang="ar-SA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4127480" y="5212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ثلاثة أسئلة لطيفة من الهدهد، يجيب عنها بصوته ولهجته.</a:t>
            </a:r>
            <a:endParaRPr lang="ar-SA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14832" y="4434840"/>
            <a:ext cx="35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3600" dirty="0">
                <a:solidFill>
                  <a:srgbClr val="D9B9A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‹</a:t>
            </a:r>
            <a:endParaRPr lang="ar-SA" sz="3600" dirty="0"/>
          </a:p>
        </p:txBody>
      </p:sp>
      <p:sp>
        <p:nvSpPr>
          <p:cNvPr id="11" name="Shape 9"/>
          <p:cNvSpPr/>
          <p:nvPr/>
        </p:nvSpPr>
        <p:spPr>
          <a:xfrm>
            <a:off x="9921240" y="2514600"/>
            <a:ext cx="3611880" cy="39776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207240" y="2926080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207240" y="28986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40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</a:t>
            </a:r>
            <a:endParaRPr lang="ar-SA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0195560" y="4114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 · كتاب</a:t>
            </a:r>
            <a:endParaRPr lang="ar-SA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4526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يصبح اليوم كتابًا</a:t>
            </a:r>
            <a:endParaRPr lang="ar-SA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195560" y="5212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خلال دقيقة: قصة من 5 صفحات بالفصحى، مصوّرة، وبطلها الطفل.</a:t>
            </a:r>
            <a:endParaRPr lang="ar-SA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582912" y="4434840"/>
            <a:ext cx="35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3600" dirty="0">
                <a:solidFill>
                  <a:srgbClr val="D9B9A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‹</a:t>
            </a:r>
            <a:endParaRPr lang="ar-SA" sz="3600" dirty="0"/>
          </a:p>
        </p:txBody>
      </p:sp>
      <p:sp>
        <p:nvSpPr>
          <p:cNvPr id="18" name="Shape 16"/>
          <p:cNvSpPr/>
          <p:nvPr/>
        </p:nvSpPr>
        <p:spPr>
          <a:xfrm>
            <a:off x="5989320" y="2514600"/>
            <a:ext cx="3611880" cy="39776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2926080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28986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40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4114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7A5AF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3 · ارتقاء</a:t>
            </a:r>
            <a:endParaRPr lang="ar-SA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526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نقرؤه معًا</a:t>
            </a:r>
            <a:endParaRPr lang="ar-SA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5212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الوالد يقرأ سطره والطفل يقرأ سطره، والجزء يكبر مع عمره.</a:t>
            </a:r>
            <a:endParaRPr lang="ar-SA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650992" y="4434840"/>
            <a:ext cx="35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3600" dirty="0">
                <a:solidFill>
                  <a:srgbClr val="D9B9A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‹</a:t>
            </a:r>
            <a:endParaRPr lang="ar-SA" sz="3600" dirty="0"/>
          </a:p>
        </p:txBody>
      </p:sp>
      <p:sp>
        <p:nvSpPr>
          <p:cNvPr id="25" name="Shape 23"/>
          <p:cNvSpPr/>
          <p:nvPr/>
        </p:nvSpPr>
        <p:spPr>
          <a:xfrm>
            <a:off x="2057400" y="2514600"/>
            <a:ext cx="3611880" cy="39776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2926080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E8A21A"/>
          </a:solidFill>
          <a:ln w="12700">
            <a:solidFill>
              <a:srgbClr val="E8A21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43400" y="28986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40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</a:t>
            </a:r>
            <a:endParaRPr lang="ar-SA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2331720" y="4114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E8A21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4 · يُطوى اليوم</a:t>
            </a:r>
            <a:endParaRPr lang="ar-SA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2331720" y="4526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تصبح على خير</a:t>
            </a:r>
            <a:endParaRPr lang="ar-SA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331720" y="5212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مهمة لطيفة للغد، ثم ينام التطبيق حتى الصباح.</a:t>
            </a:r>
            <a:endParaRPr lang="ar-SA" sz="1700" dirty="0"/>
          </a:p>
        </p:txBody>
      </p:sp>
      <p:sp>
        <p:nvSpPr>
          <p:cNvPr id="31" name="Shape 29"/>
          <p:cNvSpPr/>
          <p:nvPr/>
        </p:nvSpPr>
        <p:spPr>
          <a:xfrm>
            <a:off x="822960" y="7086600"/>
            <a:ext cx="16642080" cy="1143000"/>
          </a:xfrm>
          <a:prstGeom prst="roundRect">
            <a:avLst>
              <a:gd name="adj" fmla="val 24000"/>
            </a:avLst>
          </a:prstGeom>
          <a:solidFill>
            <a:srgbClr val="FFE6DA"/>
          </a:solidFill>
          <a:ln w="12700">
            <a:solidFill>
              <a:srgbClr val="FFE6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13480" y="7269480"/>
            <a:ext cx="777240" cy="77724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0" y="7452360"/>
            <a:ext cx="411480" cy="41148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188720" y="7360920"/>
            <a:ext cx="1490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وفي الصباح ☀ صباح الوالدين: </a:t>
            </a:r>
            <a:pPr rtl="1" algn="r" indent="0" marL="0">
              <a:buNone/>
            </a:pPr>
            <a:r>
              <a:rPr lang="ar-SA" sz="19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مشاعر الطفل، وكلمات الفصحى الجديدة، والمعلومات التي تعلّمها، وسؤال للفطور.</a:t>
            </a:r>
            <a:endParaRPr lang="ar-SA" sz="1900" dirty="0"/>
          </a:p>
        </p:txBody>
      </p:sp>
      <p:pic>
        <p:nvPicPr>
          <p:cNvPr id="35" name="Image 1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04</a:t>
            </a:r>
            <a:endParaRPr lang="ar-SA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1 · حديث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531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الطفل يحكي…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والهدهد يسمع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6459200" y="5029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0" y="475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42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</a:t>
            </a:r>
            <a:endParaRPr lang="ar-SA" sz="4200" dirty="0"/>
          </a:p>
        </p:txBody>
      </p:sp>
      <p:sp>
        <p:nvSpPr>
          <p:cNvPr id="6" name="Shape 4"/>
          <p:cNvSpPr/>
          <p:nvPr/>
        </p:nvSpPr>
        <p:spPr>
          <a:xfrm>
            <a:off x="16687800" y="2514600"/>
            <a:ext cx="777240" cy="777240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0" y="2697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0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بصوته ولهجته</a:t>
            </a:r>
            <a:endParaRPr lang="ar-SA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1887200" y="29352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يضغط الطفل على الميكروفون ويتكلم، ويحوّل الذكاء الاصطناعي صوته إلى نص.</a:t>
            </a:r>
            <a:endParaRPr lang="ar-SA" sz="1500" dirty="0"/>
          </a:p>
        </p:txBody>
      </p:sp>
      <p:sp>
        <p:nvSpPr>
          <p:cNvPr id="10" name="Shape 7"/>
          <p:cNvSpPr/>
          <p:nvPr/>
        </p:nvSpPr>
        <p:spPr>
          <a:xfrm>
            <a:off x="16687800" y="4297680"/>
            <a:ext cx="777240" cy="777240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0" y="4480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0" y="42611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ثلاثة أسئلة تبني مهارة</a:t>
            </a:r>
            <a:endParaRPr lang="ar-S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0" y="471830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الامتنان والتعبير، ثم تسمية المشاعر والمرونة، ثم التعاطف وتقدير الآخرين.</a:t>
            </a:r>
            <a:endParaRPr lang="ar-SA" sz="1500" dirty="0"/>
          </a:p>
        </p:txBody>
      </p:sp>
      <p:sp>
        <p:nvSpPr>
          <p:cNvPr id="14" name="Shape 10"/>
          <p:cNvSpPr/>
          <p:nvPr/>
        </p:nvSpPr>
        <p:spPr>
          <a:xfrm>
            <a:off x="16687800" y="6080760"/>
            <a:ext cx="777240" cy="777240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680" y="62636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0" y="60441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بدائل دائمًا</a:t>
            </a:r>
            <a:endParaRPr lang="ar-SA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0" y="65013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يمكن الكتابة بدل الكلام، أو تجربة مثال جاهز في دقيقة.</a:t>
            </a:r>
            <a:endParaRPr lang="ar-SA" sz="1500" dirty="0"/>
          </a:p>
        </p:txBody>
      </p:sp>
      <p:sp>
        <p:nvSpPr>
          <p:cNvPr id="18" name="Shape 13"/>
          <p:cNvSpPr/>
          <p:nvPr/>
        </p:nvSpPr>
        <p:spPr>
          <a:xfrm>
            <a:off x="16687800" y="7863840"/>
            <a:ext cx="777240" cy="77724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0680" y="80467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0" y="782726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دقيقتان فقط</a:t>
            </a:r>
            <a:endParaRPr lang="ar-SA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11887200" y="828446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محادثة قصيرة تشبه الدردشة، لا اختبار ولا واجب.</a:t>
            </a:r>
            <a:endParaRPr lang="ar-SA" sz="1500" dirty="0"/>
          </a:p>
        </p:txBody>
      </p:sp>
      <p:sp>
        <p:nvSpPr>
          <p:cNvPr id="22" name="Shape 16"/>
          <p:cNvSpPr/>
          <p:nvPr/>
        </p:nvSpPr>
        <p:spPr>
          <a:xfrm>
            <a:off x="822960" y="2377440"/>
            <a:ext cx="10424160" cy="6156198"/>
          </a:xfrm>
          <a:prstGeom prst="roundRect">
            <a:avLst>
              <a:gd name="adj" fmla="val 2674"/>
            </a:avLst>
          </a:prstGeom>
          <a:solidFill>
            <a:srgbClr val="F2F0FF"/>
          </a:solidFill>
          <a:ln w="12700">
            <a:solidFill>
              <a:srgbClr val="F2F0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972800" y="2468880"/>
            <a:ext cx="118872" cy="118872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771632" y="2468880"/>
            <a:ext cx="118872" cy="118872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570464" y="2468880"/>
            <a:ext cx="118872" cy="118872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26" name="Image 4" descr="/tmp/claude-0/-home-user-little-reader/1894439b-687e-591f-a669-175efcd7d324/scratchpad/img/d-talk-listening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2670048"/>
            <a:ext cx="10314432" cy="5801868"/>
          </a:xfrm>
          <a:prstGeom prst="rect">
            <a:avLst/>
          </a:prstGeom>
        </p:spPr>
      </p:pic>
      <p:pic>
        <p:nvPicPr>
          <p:cNvPr id="27" name="Image 5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05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2 · كتاب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531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خلال دقيقة…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يصبح اليوم كتابًا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6459200" y="5029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0" y="475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42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</a:t>
            </a:r>
            <a:endParaRPr lang="ar-SA" sz="4200" dirty="0"/>
          </a:p>
        </p:txBody>
      </p:sp>
      <p:sp>
        <p:nvSpPr>
          <p:cNvPr id="6" name="Shape 4"/>
          <p:cNvSpPr/>
          <p:nvPr/>
        </p:nvSpPr>
        <p:spPr>
          <a:xfrm>
            <a:off x="16687800" y="2514600"/>
            <a:ext cx="777240" cy="777240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0" y="2697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0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فحص الأمان أولًا</a:t>
            </a:r>
            <a:endParaRPr lang="ar-SA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1887200" y="29352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إن قال الطفل ما يقلق، لا تُكتب قصة ويُنبَّه الوالد بهدوء.</a:t>
            </a:r>
            <a:endParaRPr lang="ar-SA" sz="1500" dirty="0"/>
          </a:p>
        </p:txBody>
      </p:sp>
      <p:sp>
        <p:nvSpPr>
          <p:cNvPr id="10" name="Shape 7"/>
          <p:cNvSpPr/>
          <p:nvPr/>
        </p:nvSpPr>
        <p:spPr>
          <a:xfrm>
            <a:off x="16687800" y="4297680"/>
            <a:ext cx="777240" cy="777240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0" y="4480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0" y="42611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قصة على مقاسه</a:t>
            </a:r>
            <a:endParaRPr lang="ar-S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0" y="471830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 صفحات على قدر عمره، تنطلق من يومه إلى معلومات حقيقية عن العالم.</a:t>
            </a:r>
            <a:endParaRPr lang="ar-SA" sz="1500" dirty="0"/>
          </a:p>
        </p:txBody>
      </p:sp>
      <p:sp>
        <p:nvSpPr>
          <p:cNvPr id="14" name="Shape 10"/>
          <p:cNvSpPr/>
          <p:nvPr/>
        </p:nvSpPr>
        <p:spPr>
          <a:xfrm>
            <a:off x="16687800" y="6080760"/>
            <a:ext cx="777240" cy="777240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680" y="62636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0" y="60441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جسر اللهجة</a:t>
            </a:r>
            <a:endParaRPr lang="ar-SA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0" y="65013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كلماته العامية تصبح فصحى أمام عينيه: مبسوطة ← سعيدة.</a:t>
            </a:r>
            <a:endParaRPr lang="ar-SA" sz="1500" dirty="0"/>
          </a:p>
        </p:txBody>
      </p:sp>
      <p:sp>
        <p:nvSpPr>
          <p:cNvPr id="18" name="Shape 13"/>
          <p:cNvSpPr/>
          <p:nvPr/>
        </p:nvSpPr>
        <p:spPr>
          <a:xfrm>
            <a:off x="16687800" y="7863840"/>
            <a:ext cx="777240" cy="77724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0680" y="80467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0" y="782726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الرسّام</a:t>
            </a:r>
            <a:endParaRPr lang="ar-SA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11887200" y="828446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يرسم الغلاف والصفحات، وشهد هي البطلة في كل صورة.</a:t>
            </a:r>
            <a:endParaRPr lang="ar-SA" sz="1500" dirty="0"/>
          </a:p>
        </p:txBody>
      </p:sp>
      <p:sp>
        <p:nvSpPr>
          <p:cNvPr id="22" name="Shape 16"/>
          <p:cNvSpPr/>
          <p:nvPr/>
        </p:nvSpPr>
        <p:spPr>
          <a:xfrm>
            <a:off x="822960" y="2377440"/>
            <a:ext cx="10424160" cy="6156198"/>
          </a:xfrm>
          <a:prstGeom prst="roundRect">
            <a:avLst>
              <a:gd name="adj" fmla="val 2674"/>
            </a:avLst>
          </a:prstGeom>
          <a:solidFill>
            <a:srgbClr val="F2F0FF"/>
          </a:solidFill>
          <a:ln w="12700">
            <a:solidFill>
              <a:srgbClr val="F2F0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972800" y="2468880"/>
            <a:ext cx="118872" cy="118872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771632" y="2468880"/>
            <a:ext cx="118872" cy="118872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570464" y="2468880"/>
            <a:ext cx="118872" cy="118872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26" name="Image 4" descr="/tmp/claude-0/-home-user-little-reader/1894439b-687e-591f-a669-175efcd7d324/scratchpad/img/d-making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2670048"/>
            <a:ext cx="10314432" cy="5801868"/>
          </a:xfrm>
          <a:prstGeom prst="rect">
            <a:avLst/>
          </a:prstGeom>
        </p:spPr>
      </p:pic>
      <p:pic>
        <p:nvPicPr>
          <p:cNvPr id="27" name="Image 5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06</a:t>
            </a:r>
            <a:endParaRPr lang="ar-SA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التخصيص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 صورة واحدة…</a:t>
            </a:r>
            <a:pPr rtl="1" algn="r" indent="0" marL="0">
              <a:buNone/>
            </a:pPr>
            <a:r>
              <a:rPr lang="ar-SA" sz="44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إلى بطل الحكاية</a:t>
            </a:r>
            <a:endParaRPr lang="ar-SA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237744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يرفع الوالد صورة الطفل مرة واحدة، ويحوّلها الذكاء الاصطناعي إلى شخصية كرتونية تظهر في كل كتاب. لا نحتفظ بالصورة الأصلية أبدًا.</a:t>
            </a:r>
            <a:endParaRPr lang="ar-SA" sz="2000" dirty="0"/>
          </a:p>
        </p:txBody>
      </p:sp>
      <p:sp>
        <p:nvSpPr>
          <p:cNvPr id="5" name="Shape 3"/>
          <p:cNvSpPr/>
          <p:nvPr/>
        </p:nvSpPr>
        <p:spPr>
          <a:xfrm>
            <a:off x="16861536" y="4434840"/>
            <a:ext cx="603504" cy="603504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0" y="45811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0" y="4480560"/>
            <a:ext cx="5614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موافقة وليّ الأمر أولًا</a:t>
            </a:r>
            <a:endParaRPr lang="ar-SA" sz="2000" dirty="0"/>
          </a:p>
        </p:txBody>
      </p:sp>
      <p:sp>
        <p:nvSpPr>
          <p:cNvPr id="8" name="Shape 5"/>
          <p:cNvSpPr/>
          <p:nvPr/>
        </p:nvSpPr>
        <p:spPr>
          <a:xfrm>
            <a:off x="16861536" y="5349240"/>
            <a:ext cx="603504" cy="603504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0" y="549554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0" y="5394960"/>
            <a:ext cx="5614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العمر يحدد مستوى القراءة</a:t>
            </a:r>
            <a:endParaRPr lang="ar-SA" sz="2000" dirty="0"/>
          </a:p>
        </p:txBody>
      </p:sp>
      <p:sp>
        <p:nvSpPr>
          <p:cNvPr id="11" name="Shape 7"/>
          <p:cNvSpPr/>
          <p:nvPr/>
        </p:nvSpPr>
        <p:spPr>
          <a:xfrm>
            <a:off x="16861536" y="6263640"/>
            <a:ext cx="603504" cy="603504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0" y="64099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0" y="6309360"/>
            <a:ext cx="5614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العربية أو الإنجليزية</a:t>
            </a:r>
            <a:endParaRPr lang="ar-SA" sz="2000" dirty="0"/>
          </a:p>
        </p:txBody>
      </p:sp>
      <p:sp>
        <p:nvSpPr>
          <p:cNvPr id="14" name="Shape 9"/>
          <p:cNvSpPr/>
          <p:nvPr/>
        </p:nvSpPr>
        <p:spPr>
          <a:xfrm>
            <a:off x="16861536" y="7178040"/>
            <a:ext cx="603504" cy="603504"/>
          </a:xfrm>
          <a:prstGeom prst="ellipse">
            <a:avLst/>
          </a:prstGeom>
          <a:solidFill>
            <a:srgbClr val="2F6FE0"/>
          </a:solidFill>
          <a:ln w="12700">
            <a:solidFill>
              <a:srgbClr val="2F6FE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0" y="7324344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0" y="7223760"/>
            <a:ext cx="5614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وقت النوم يضبط الطقس اليومي</a:t>
            </a:r>
            <a:endParaRPr lang="ar-SA" sz="2000" dirty="0"/>
          </a:p>
        </p:txBody>
      </p:sp>
      <p:sp>
        <p:nvSpPr>
          <p:cNvPr id="17" name="Shape 11"/>
          <p:cNvSpPr/>
          <p:nvPr/>
        </p:nvSpPr>
        <p:spPr>
          <a:xfrm>
            <a:off x="822960" y="2377440"/>
            <a:ext cx="6766560" cy="4098798"/>
          </a:xfrm>
          <a:prstGeom prst="roundRect">
            <a:avLst>
              <a:gd name="adj" fmla="val 4016"/>
            </a:avLst>
          </a:prstGeom>
          <a:solidFill>
            <a:srgbClr val="FFFFFF"/>
          </a:solidFill>
          <a:ln w="12700">
            <a:solidFill>
              <a:srgbClr val="E9E3F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15200" y="2468880"/>
            <a:ext cx="118872" cy="118872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114032" y="2468880"/>
            <a:ext cx="118872" cy="118872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912864" y="2468880"/>
            <a:ext cx="118872" cy="118872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21" name="Image 4" descr="/tmp/claude-0/-home-user-little-reader/1894439b-687e-591f-a669-175efcd7d324/scratchpad/img/d-setup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670048"/>
            <a:ext cx="6656832" cy="374446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909560" y="2377440"/>
            <a:ext cx="2651760" cy="443484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FFC23D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pic>
        <p:nvPicPr>
          <p:cNvPr id="23" name="Image 5" descr="/tmp/claude-0/-home-user-little-reader/1894439b-687e-591f-a669-175efcd7d324/scratchpad/img/avatar-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514600"/>
            <a:ext cx="2377440" cy="356616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909560" y="6217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6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البطلة الكرتونية</a:t>
            </a:r>
            <a:endParaRPr lang="ar-SA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822960" y="67208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9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إعداد لمرة واحدة، ثم يبدأ الطقس كل ليلة</a:t>
            </a:r>
            <a:endParaRPr lang="ar-SA" sz="1900" dirty="0"/>
          </a:p>
        </p:txBody>
      </p:sp>
      <p:pic>
        <p:nvPicPr>
          <p:cNvPr id="26" name="Image 6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07</a:t>
            </a:r>
            <a:endParaRPr lang="ar-SA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3 · ارتقاء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531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نقرأ معًا…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كل واحد سطره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6459200" y="5029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0" y="475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42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</a:t>
            </a:r>
            <a:endParaRPr lang="ar-SA" sz="4200" dirty="0"/>
          </a:p>
        </p:txBody>
      </p:sp>
      <p:sp>
        <p:nvSpPr>
          <p:cNvPr id="6" name="Shape 4"/>
          <p:cNvSpPr/>
          <p:nvPr/>
        </p:nvSpPr>
        <p:spPr>
          <a:xfrm>
            <a:off x="16687800" y="2514600"/>
            <a:ext cx="777240" cy="777240"/>
          </a:xfrm>
          <a:prstGeom prst="ellipse">
            <a:avLst/>
          </a:prstGeom>
          <a:solidFill>
            <a:srgbClr val="2F6FE0"/>
          </a:solidFill>
          <a:ln w="12700">
            <a:solidFill>
              <a:srgbClr val="2F6F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0" y="2697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0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الوالد يقرأ والطفل يقرأ</a:t>
            </a:r>
            <a:endParaRPr lang="ar-SA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1887200" y="29352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سطر للوالد وسطر للطفل، وتضيء كل كلمة يقرؤها الطفل.</a:t>
            </a:r>
            <a:endParaRPr lang="ar-SA" sz="1500" dirty="0"/>
          </a:p>
        </p:txBody>
      </p:sp>
      <p:sp>
        <p:nvSpPr>
          <p:cNvPr id="10" name="Shape 7"/>
          <p:cNvSpPr/>
          <p:nvPr/>
        </p:nvSpPr>
        <p:spPr>
          <a:xfrm>
            <a:off x="16687800" y="4297680"/>
            <a:ext cx="777240" cy="777240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0" y="4480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0" y="42611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يكبر مع عمره</a:t>
            </a:r>
            <a:endParaRPr lang="ar-S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0" y="471830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ابن الرابعة يقرأ كلمة أو كلمتين، وابن الثامنة الصفحة كاملة.</a:t>
            </a:r>
            <a:endParaRPr lang="ar-SA" sz="1500" dirty="0"/>
          </a:p>
        </p:txBody>
      </p:sp>
      <p:sp>
        <p:nvSpPr>
          <p:cNvPr id="14" name="Shape 10"/>
          <p:cNvSpPr/>
          <p:nvPr/>
        </p:nvSpPr>
        <p:spPr>
          <a:xfrm>
            <a:off x="16687800" y="6080760"/>
            <a:ext cx="777240" cy="777240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680" y="62636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0" y="60441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الهدهد يقرأ بصوته</a:t>
            </a:r>
            <a:endParaRPr lang="ar-SA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0" y="65013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أصوات طبيعية بالذكاء الاصطناعي تقرأ الصفحة وتقلّبها وحدها.</a:t>
            </a:r>
            <a:endParaRPr lang="ar-SA" sz="1500" dirty="0"/>
          </a:p>
        </p:txBody>
      </p:sp>
      <p:sp>
        <p:nvSpPr>
          <p:cNvPr id="18" name="Shape 13"/>
          <p:cNvSpPr/>
          <p:nvPr/>
        </p:nvSpPr>
        <p:spPr>
          <a:xfrm>
            <a:off x="16687800" y="7863840"/>
            <a:ext cx="777240" cy="777240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0680" y="80467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0" y="782726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رسومات تشبه يومه</a:t>
            </a:r>
            <a:endParaRPr lang="ar-SA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11887200" y="828446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بيته وأمه ومدرسته وصديقته، في كتاب لم يُكتب لأحد غيره.</a:t>
            </a:r>
            <a:endParaRPr lang="ar-SA" sz="1500" dirty="0"/>
          </a:p>
        </p:txBody>
      </p:sp>
      <p:sp>
        <p:nvSpPr>
          <p:cNvPr id="22" name="Shape 16"/>
          <p:cNvSpPr/>
          <p:nvPr/>
        </p:nvSpPr>
        <p:spPr>
          <a:xfrm>
            <a:off x="822960" y="2377440"/>
            <a:ext cx="10424160" cy="6156198"/>
          </a:xfrm>
          <a:prstGeom prst="roundRect">
            <a:avLst>
              <a:gd name="adj" fmla="val 2674"/>
            </a:avLst>
          </a:prstGeom>
          <a:solidFill>
            <a:srgbClr val="F2F0FF"/>
          </a:solidFill>
          <a:ln w="12700">
            <a:solidFill>
              <a:srgbClr val="F2F0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972800" y="2468880"/>
            <a:ext cx="118872" cy="118872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771632" y="2468880"/>
            <a:ext cx="118872" cy="118872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570464" y="2468880"/>
            <a:ext cx="118872" cy="118872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26" name="Image 4" descr="/tmp/claude-0/-home-user-little-reader/1894439b-687e-591f-a669-175efcd7d324/scratchpad/img/d-read-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2670048"/>
            <a:ext cx="10314432" cy="5801868"/>
          </a:xfrm>
          <a:prstGeom prst="rect">
            <a:avLst/>
          </a:prstGeom>
        </p:spPr>
      </p:pic>
      <p:pic>
        <p:nvPicPr>
          <p:cNvPr id="27" name="Image 5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08</a:t>
            </a:r>
            <a:endParaRPr lang="ar-SA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كتاب الليلة رقم 24 · شهد ونور الصلاة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كتاب حقيقي…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صنعه التطبيق من يوم شهد</a:t>
            </a:r>
            <a:endParaRPr lang="ar-SA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664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ثلاث جمل قالتها شهد عن يومها في المدرسة، خرج كتاب من خمس صفحات عن الصلاة والشجاعة والصداقة.</a:t>
            </a:r>
            <a:endParaRPr lang="ar-SA" sz="1900" dirty="0"/>
          </a:p>
        </p:txBody>
      </p:sp>
      <p:sp>
        <p:nvSpPr>
          <p:cNvPr id="5" name="Shape 3"/>
          <p:cNvSpPr/>
          <p:nvPr/>
        </p:nvSpPr>
        <p:spPr>
          <a:xfrm>
            <a:off x="14374368" y="3035808"/>
            <a:ext cx="3163824" cy="3040380"/>
          </a:xfrm>
          <a:prstGeom prst="roundRect">
            <a:avLst>
              <a:gd name="adj" fmla="val 5414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tmp/claude-0/-home-user-little-reader/1894439b-687e-591f-a669-175efcd7d324/scratchpad/img/page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0" y="3108960"/>
            <a:ext cx="3017520" cy="22631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0" y="54818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 · سرّ الابتسامة</a:t>
            </a:r>
            <a:endParaRPr lang="ar-SA" sz="1500" dirty="0"/>
          </a:p>
        </p:txBody>
      </p:sp>
      <p:sp>
        <p:nvSpPr>
          <p:cNvPr id="8" name="Shape 5"/>
          <p:cNvSpPr/>
          <p:nvPr/>
        </p:nvSpPr>
        <p:spPr>
          <a:xfrm>
            <a:off x="11128248" y="3355848"/>
            <a:ext cx="3163824" cy="3040380"/>
          </a:xfrm>
          <a:prstGeom prst="roundRect">
            <a:avLst>
              <a:gd name="adj" fmla="val 5414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1" descr="/tmp/claude-0/-home-user-little-reader/1894439b-687e-591f-a669-175efcd7d324/scratchpad/img/page-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3429000"/>
            <a:ext cx="3017520" cy="22631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201400" y="58018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 · شجاعة المحاولة</a:t>
            </a:r>
            <a:endParaRPr lang="ar-SA" sz="1500" dirty="0"/>
          </a:p>
        </p:txBody>
      </p:sp>
      <p:sp>
        <p:nvSpPr>
          <p:cNvPr id="11" name="Shape 7"/>
          <p:cNvSpPr/>
          <p:nvPr/>
        </p:nvSpPr>
        <p:spPr>
          <a:xfrm>
            <a:off x="7882128" y="3035808"/>
            <a:ext cx="3163824" cy="3040380"/>
          </a:xfrm>
          <a:prstGeom prst="roundRect">
            <a:avLst>
              <a:gd name="adj" fmla="val 5414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2" descr="/tmp/claude-0/-home-user-little-reader/1894439b-687e-591f-a669-175efcd7d324/scratchpad/img/page-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108960"/>
            <a:ext cx="3017520" cy="22631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955280" y="54818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3 · صديقتان وخطوة جديدة</a:t>
            </a:r>
            <a:endParaRPr lang="ar-SA" sz="1500" dirty="0"/>
          </a:p>
        </p:txBody>
      </p:sp>
      <p:sp>
        <p:nvSpPr>
          <p:cNvPr id="14" name="Shape 9"/>
          <p:cNvSpPr/>
          <p:nvPr/>
        </p:nvSpPr>
        <p:spPr>
          <a:xfrm>
            <a:off x="4636008" y="3355848"/>
            <a:ext cx="3163824" cy="3040380"/>
          </a:xfrm>
          <a:prstGeom prst="roundRect">
            <a:avLst>
              <a:gd name="adj" fmla="val 5414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3" descr="/tmp/claude-0/-home-user-little-reader/1894439b-687e-591f-a669-175efcd7d324/scratchpad/img/page-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429000"/>
            <a:ext cx="3017520" cy="22631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709160" y="58018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4 · قلبي يطمئنّ</a:t>
            </a:r>
            <a:endParaRPr lang="ar-SA" sz="1500" dirty="0"/>
          </a:p>
        </p:txBody>
      </p:sp>
      <p:sp>
        <p:nvSpPr>
          <p:cNvPr id="17" name="Shape 11"/>
          <p:cNvSpPr/>
          <p:nvPr/>
        </p:nvSpPr>
        <p:spPr>
          <a:xfrm>
            <a:off x="1389888" y="3035808"/>
            <a:ext cx="3163824" cy="3040380"/>
          </a:xfrm>
          <a:prstGeom prst="roundRect">
            <a:avLst>
              <a:gd name="adj" fmla="val 5414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4" descr="/tmp/claude-0/-home-user-little-reader/1894439b-687e-591f-a669-175efcd7d324/scratchpad/img/page-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108960"/>
            <a:ext cx="3017520" cy="22631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54818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5 · نور صغير يكبر</a:t>
            </a:r>
            <a:endParaRPr lang="ar-SA" sz="1500" dirty="0"/>
          </a:p>
        </p:txBody>
      </p:sp>
      <p:sp>
        <p:nvSpPr>
          <p:cNvPr id="20" name="Shape 13"/>
          <p:cNvSpPr/>
          <p:nvPr/>
        </p:nvSpPr>
        <p:spPr>
          <a:xfrm>
            <a:off x="9464040" y="6812280"/>
            <a:ext cx="8001000" cy="2011680"/>
          </a:xfrm>
          <a:prstGeom prst="roundRect">
            <a:avLst>
              <a:gd name="adj" fmla="val 11364"/>
            </a:avLst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829800" y="694944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400" dirty="0">
                <a:solidFill>
                  <a:srgbClr val="FFE1D8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قالت شهد</a:t>
            </a:r>
            <a:endParaRPr lang="ar-SA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9829800" y="7315200"/>
            <a:ext cx="7269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«إيه، في البداية نسيت ترتيب حركات الصلاة، وخفت أغلط قدام المعلمة.»</a:t>
            </a:r>
            <a:endParaRPr lang="ar-SA" sz="1900" dirty="0"/>
          </a:p>
        </p:txBody>
      </p:sp>
      <p:sp>
        <p:nvSpPr>
          <p:cNvPr id="23" name="Shape 16"/>
          <p:cNvSpPr/>
          <p:nvPr/>
        </p:nvSpPr>
        <p:spPr>
          <a:xfrm>
            <a:off x="822960" y="6812280"/>
            <a:ext cx="8183880" cy="201168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188720" y="6949440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400" dirty="0">
                <a:solidFill>
                  <a:srgbClr val="7A5AF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وكتب الكتاب (الصفحة 2)</a:t>
            </a:r>
            <a:endParaRPr lang="ar-SA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1188720" y="7315200"/>
            <a:ext cx="7452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«نسيت بعض الحركات، وخفت أن أخطئ أمام المعلمة». ضمّتها أمها وقالت: «نتعلّم خطوةً خطوةً يا شهد».</a:t>
            </a:r>
            <a:endParaRPr lang="ar-SA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9006840" y="74523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30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←</a:t>
            </a:r>
            <a:endParaRPr lang="ar-SA" sz="3000" dirty="0"/>
          </a:p>
        </p:txBody>
      </p:sp>
      <p:pic>
        <p:nvPicPr>
          <p:cNvPr id="27" name="Image 5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09</a:t>
            </a:r>
            <a:endParaRPr lang="ar-SA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الخطوة 4 · يُطوى اليوم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531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تصبح على خير…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والكتاب على الرف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6459200" y="5029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E8A21A"/>
          </a:solidFill>
          <a:ln w="12700">
            <a:solidFill>
              <a:srgbClr val="E8A2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0" y="4754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42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</a:t>
            </a:r>
            <a:endParaRPr lang="ar-SA" sz="4200" dirty="0"/>
          </a:p>
        </p:txBody>
      </p:sp>
      <p:sp>
        <p:nvSpPr>
          <p:cNvPr id="6" name="Shape 4"/>
          <p:cNvSpPr/>
          <p:nvPr/>
        </p:nvSpPr>
        <p:spPr>
          <a:xfrm>
            <a:off x="16687800" y="2514600"/>
            <a:ext cx="777240" cy="777240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0" y="2697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0" y="2478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مهمة صغيرة للغد</a:t>
            </a:r>
            <a:endParaRPr lang="ar-SA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1887200" y="29352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«دَرِّبي مع أمك ترتيب حركات الصلاة، وساعدي صديقة…» وغدًا يسأل الهدهد: هل فعلتِ؟</a:t>
            </a:r>
            <a:endParaRPr lang="ar-SA" sz="1500" dirty="0"/>
          </a:p>
        </p:txBody>
      </p:sp>
      <p:sp>
        <p:nvSpPr>
          <p:cNvPr id="10" name="Shape 7"/>
          <p:cNvSpPr/>
          <p:nvPr/>
        </p:nvSpPr>
        <p:spPr>
          <a:xfrm>
            <a:off x="16687800" y="4297680"/>
            <a:ext cx="777240" cy="777240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0" y="4480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0" y="42611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مكتبة من حياته</a:t>
            </a:r>
            <a:endParaRPr lang="ar-S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0" y="471830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ليلة يُضاف كتاب جديد إلى رفّه، ويمكن العودة إلى أي كتاب.</a:t>
            </a:r>
            <a:endParaRPr lang="ar-SA" sz="1500" dirty="0"/>
          </a:p>
        </p:txBody>
      </p:sp>
      <p:sp>
        <p:nvSpPr>
          <p:cNvPr id="14" name="Shape 10"/>
          <p:cNvSpPr/>
          <p:nvPr/>
        </p:nvSpPr>
        <p:spPr>
          <a:xfrm>
            <a:off x="16687800" y="6080760"/>
            <a:ext cx="777240" cy="777240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680" y="62636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0" y="60441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ينام التطبيق حتى الصباح</a:t>
            </a:r>
            <a:endParaRPr lang="ar-SA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0" y="65013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بعد القصة يُغلق حتى السابعة صباحًا: لا تمرير لا نهائي ولا إدمان شاشة.</a:t>
            </a:r>
            <a:endParaRPr lang="ar-SA" sz="1500" dirty="0"/>
          </a:p>
        </p:txBody>
      </p:sp>
      <p:sp>
        <p:nvSpPr>
          <p:cNvPr id="18" name="Shape 13"/>
          <p:cNvSpPr/>
          <p:nvPr/>
        </p:nvSpPr>
        <p:spPr>
          <a:xfrm>
            <a:off x="822960" y="2377440"/>
            <a:ext cx="10424160" cy="6156198"/>
          </a:xfrm>
          <a:prstGeom prst="roundRect">
            <a:avLst>
              <a:gd name="adj" fmla="val 2674"/>
            </a:avLst>
          </a:prstGeom>
          <a:solidFill>
            <a:srgbClr val="F2F0FF"/>
          </a:solidFill>
          <a:ln w="12700">
            <a:solidFill>
              <a:srgbClr val="F2F0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72800" y="2468880"/>
            <a:ext cx="118872" cy="118872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771632" y="2468880"/>
            <a:ext cx="118872" cy="118872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570464" y="2468880"/>
            <a:ext cx="118872" cy="118872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22" name="Image 3" descr="/tmp/claude-0/-home-user-little-reader/1894439b-687e-591f-a669-175efcd7d324/scratchpad/img/d-goodnigh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670048"/>
            <a:ext cx="10314432" cy="5801868"/>
          </a:xfrm>
          <a:prstGeom prst="rect">
            <a:avLst/>
          </a:prstGeom>
        </p:spPr>
      </p:pic>
      <p:pic>
        <p:nvPicPr>
          <p:cNvPr id="23" name="Image 4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10</a:t>
            </a:r>
            <a:endParaRPr lang="ar-SA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صباح الوالدين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صباح الخير…</a:t>
            </a:r>
            <a:pPr rtl="1" algn="r" indent="0" marL="0">
              <a:buNone/>
            </a:pPr>
            <a:r>
              <a:rPr lang="ar-SA" sz="44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هكذا كان يوم طفلك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9692640" cy="5744718"/>
          </a:xfrm>
          <a:prstGeom prst="roundRect">
            <a:avLst>
              <a:gd name="adj" fmla="val 2865"/>
            </a:avLst>
          </a:prstGeom>
          <a:solidFill>
            <a:srgbClr val="FFFFFF"/>
          </a:solidFill>
          <a:ln w="12700">
            <a:solidFill>
              <a:srgbClr val="E9E3F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0" y="2423160"/>
            <a:ext cx="118872" cy="118872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40112" y="2423160"/>
            <a:ext cx="118872" cy="118872"/>
          </a:xfrm>
          <a:prstGeom prst="ellipse">
            <a:avLst/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38944" y="2423160"/>
            <a:ext cx="118872" cy="118872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8" name="Image 0" descr="/tmp/claude-0/-home-user-little-reader/1894439b-687e-591f-a669-175efcd7d324/scratchpad/img/d-morn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24328"/>
            <a:ext cx="9582912" cy="53903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356080" y="2377440"/>
            <a:ext cx="3108960" cy="164592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4630400" y="25420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0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12/14</a:t>
            </a:r>
            <a:endParaRPr lang="ar-SA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ليلة فيها كتاب</a:t>
            </a:r>
            <a:endParaRPr lang="ar-SA" sz="1600" dirty="0"/>
          </a:p>
        </p:txBody>
      </p:sp>
      <p:sp>
        <p:nvSpPr>
          <p:cNvPr id="12" name="Shape 9"/>
          <p:cNvSpPr/>
          <p:nvPr/>
        </p:nvSpPr>
        <p:spPr>
          <a:xfrm>
            <a:off x="10972800" y="2377440"/>
            <a:ext cx="3108960" cy="164592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1247120" y="25420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000" dirty="0">
                <a:solidFill>
                  <a:srgbClr val="1FA383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10 د</a:t>
            </a:r>
            <a:endParaRPr lang="ar-SA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معًا كل ليلة</a:t>
            </a:r>
            <a:endParaRPr lang="ar-SA" sz="1600" dirty="0"/>
          </a:p>
        </p:txBody>
      </p:sp>
      <p:sp>
        <p:nvSpPr>
          <p:cNvPr id="15" name="Shape 12"/>
          <p:cNvSpPr/>
          <p:nvPr/>
        </p:nvSpPr>
        <p:spPr>
          <a:xfrm>
            <a:off x="14356080" y="4251960"/>
            <a:ext cx="3108960" cy="164592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4630400" y="441655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000" dirty="0">
                <a:solidFill>
                  <a:srgbClr val="7A5AF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34</a:t>
            </a:r>
            <a:endParaRPr lang="ar-SA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0" y="5276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كلمة فصحى جديدة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10972800" y="4251960"/>
            <a:ext cx="3108960" cy="164592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11247120" y="441655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000" dirty="0">
                <a:solidFill>
                  <a:srgbClr val="2F6FE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62</a:t>
            </a:r>
            <a:endParaRPr lang="ar-SA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11247120" y="5276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معلومة جديدة</a:t>
            </a:r>
            <a:endParaRPr lang="ar-SA" sz="1600" dirty="0"/>
          </a:p>
        </p:txBody>
      </p:sp>
      <p:sp>
        <p:nvSpPr>
          <p:cNvPr id="21" name="Shape 18"/>
          <p:cNvSpPr/>
          <p:nvPr/>
        </p:nvSpPr>
        <p:spPr>
          <a:xfrm>
            <a:off x="10972800" y="6263640"/>
            <a:ext cx="6492240" cy="2423160"/>
          </a:xfrm>
          <a:prstGeom prst="roundRect">
            <a:avLst>
              <a:gd name="adj" fmla="val 9434"/>
            </a:avLst>
          </a:prstGeom>
          <a:solidFill>
            <a:srgbClr val="FFE6DA"/>
          </a:solidFill>
          <a:ln w="12700">
            <a:solidFill>
              <a:srgbClr val="FFE6D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7800" y="6492240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292840" y="6492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سؤال اليوم للفطور</a:t>
            </a:r>
            <a:endParaRPr lang="ar-SA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1292840" y="69951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«ما الذي ساعدكِ على المحاولة من جديد عندما نسيتِ حركات الصلاة؟»</a:t>
            </a:r>
            <a:endParaRPr lang="ar-SA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11292840" y="80924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4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حوار حقيقي بدل «كيف كان يومك؟… زين»</a:t>
            </a:r>
            <a:endParaRPr lang="ar-SA" sz="1400" dirty="0"/>
          </a:p>
        </p:txBody>
      </p:sp>
      <p:pic>
        <p:nvPicPr>
          <p:cNvPr id="26" name="Image 2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11</a:t>
            </a:r>
            <a:endParaRPr lang="ar-SA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على كل جهاز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في الجوال قبل النوم…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بلا تثبيت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4456881" y="2221992"/>
            <a:ext cx="3008159" cy="6254496"/>
          </a:xfrm>
          <a:prstGeom prst="roundRect">
            <a:avLst>
              <a:gd name="adj" fmla="val 10639"/>
            </a:avLst>
          </a:prstGeom>
          <a:solidFill>
            <a:srgbClr val="11133D"/>
          </a:solidFill>
          <a:ln w="19050">
            <a:solidFill>
              <a:srgbClr val="3A3F8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little-reader/1894439b-687e-591f-a669-175efcd7d324/scratchpad/img/m-talk-d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566609" y="2331720"/>
            <a:ext cx="2788703" cy="6035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383729" y="8595360"/>
            <a:ext cx="3154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7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 · الحديث</a:t>
            </a:r>
            <a:endParaRPr lang="ar-SA" sz="1700" dirty="0"/>
          </a:p>
        </p:txBody>
      </p:sp>
      <p:sp>
        <p:nvSpPr>
          <p:cNvPr id="7" name="Shape 4"/>
          <p:cNvSpPr/>
          <p:nvPr/>
        </p:nvSpPr>
        <p:spPr>
          <a:xfrm>
            <a:off x="11048401" y="2221992"/>
            <a:ext cx="3008159" cy="6254496"/>
          </a:xfrm>
          <a:prstGeom prst="roundRect">
            <a:avLst>
              <a:gd name="adj" fmla="val 10639"/>
            </a:avLst>
          </a:prstGeom>
          <a:solidFill>
            <a:srgbClr val="11133D"/>
          </a:solidFill>
          <a:ln w="19050">
            <a:solidFill>
              <a:srgbClr val="3A3F8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1" descr="/tmp/claude-0/-home-user-little-reader/1894439b-687e-591f-a669-175efcd7d324/scratchpad/img/m-makin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158129" y="2331720"/>
            <a:ext cx="2788703" cy="6035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5249" y="8595360"/>
            <a:ext cx="3154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7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 · صنع الكتاب</a:t>
            </a:r>
            <a:endParaRPr lang="ar-SA" sz="1700" dirty="0"/>
          </a:p>
        </p:txBody>
      </p:sp>
      <p:sp>
        <p:nvSpPr>
          <p:cNvPr id="10" name="Shape 6"/>
          <p:cNvSpPr/>
          <p:nvPr/>
        </p:nvSpPr>
        <p:spPr>
          <a:xfrm>
            <a:off x="7639920" y="2221992"/>
            <a:ext cx="3008159" cy="6254496"/>
          </a:xfrm>
          <a:prstGeom prst="roundRect">
            <a:avLst>
              <a:gd name="adj" fmla="val 10639"/>
            </a:avLst>
          </a:prstGeom>
          <a:solidFill>
            <a:srgbClr val="11133D"/>
          </a:solidFill>
          <a:ln w="19050">
            <a:solidFill>
              <a:srgbClr val="3A3F8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2" descr="/tmp/claude-0/-home-user-little-reader/1894439b-687e-591f-a669-175efcd7d324/scratchpad/img/m-read-cov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49648" y="2331720"/>
            <a:ext cx="2788703" cy="6035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66768" y="8595360"/>
            <a:ext cx="3154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7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غلاف الكتاب</a:t>
            </a:r>
            <a:endParaRPr lang="ar-SA" sz="1700" dirty="0"/>
          </a:p>
        </p:txBody>
      </p:sp>
      <p:sp>
        <p:nvSpPr>
          <p:cNvPr id="13" name="Shape 8"/>
          <p:cNvSpPr/>
          <p:nvPr/>
        </p:nvSpPr>
        <p:spPr>
          <a:xfrm>
            <a:off x="4231440" y="2221992"/>
            <a:ext cx="3008159" cy="6254496"/>
          </a:xfrm>
          <a:prstGeom prst="roundRect">
            <a:avLst>
              <a:gd name="adj" fmla="val 10639"/>
            </a:avLst>
          </a:prstGeom>
          <a:solidFill>
            <a:srgbClr val="11133D"/>
          </a:solidFill>
          <a:ln w="19050">
            <a:solidFill>
              <a:srgbClr val="3A3F8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3" descr="/tmp/claude-0/-home-user-little-reader/1894439b-687e-591f-a669-175efcd7d324/scratchpad/img/m-read-p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1168" y="2331720"/>
            <a:ext cx="2788703" cy="6035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58288" y="8595360"/>
            <a:ext cx="3154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7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 · القراءة</a:t>
            </a:r>
            <a:endParaRPr lang="ar-SA" sz="1700" dirty="0"/>
          </a:p>
        </p:txBody>
      </p:sp>
      <p:sp>
        <p:nvSpPr>
          <p:cNvPr id="16" name="Shape 10"/>
          <p:cNvSpPr/>
          <p:nvPr/>
        </p:nvSpPr>
        <p:spPr>
          <a:xfrm>
            <a:off x="822960" y="2221992"/>
            <a:ext cx="3008159" cy="6254496"/>
          </a:xfrm>
          <a:prstGeom prst="roundRect">
            <a:avLst>
              <a:gd name="adj" fmla="val 10639"/>
            </a:avLst>
          </a:prstGeom>
          <a:solidFill>
            <a:srgbClr val="11133D"/>
          </a:solidFill>
          <a:ln w="19050">
            <a:solidFill>
              <a:srgbClr val="3A3F8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4" descr="/tmp/claude-0/-home-user-little-reader/1894439b-687e-591f-a669-175efcd7d324/scratchpad/img/m-morning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2688" y="2331720"/>
            <a:ext cx="2788703" cy="60350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9808" y="8595360"/>
            <a:ext cx="3154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7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☀ صباح الوالدين</a:t>
            </a:r>
            <a:endParaRPr lang="ar-SA" sz="1700" dirty="0"/>
          </a:p>
        </p:txBody>
      </p:sp>
      <p:pic>
        <p:nvPicPr>
          <p:cNvPr id="19" name="Image 5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12</a:t>
            </a:r>
            <a:endParaRPr lang="ar-SA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الأمان والخصوصية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ذكيّ…</a:t>
            </a:r>
            <a:pPr rtl="1" algn="r" indent="0" marL="0">
              <a:buNone/>
            </a:pPr>
            <a:r>
              <a:rPr lang="ar-SA" sz="44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وآمن من أول كلمة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3544550" y="2560320"/>
            <a:ext cx="3920490" cy="3657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0" y="2971800"/>
            <a:ext cx="868680" cy="868680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2" y="3182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64590" y="4114800"/>
            <a:ext cx="3234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2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موافقة وليّ الأمر أولًا</a:t>
            </a:r>
            <a:endParaRPr lang="ar-S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3864590" y="4754880"/>
            <a:ext cx="32346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يبدأ شيء قبل موافقة الوالد على الشروط ومعالجة الصورة.</a:t>
            </a:r>
            <a:endParaRPr lang="ar-SA" sz="1600" dirty="0"/>
          </a:p>
        </p:txBody>
      </p:sp>
      <p:sp>
        <p:nvSpPr>
          <p:cNvPr id="9" name="Shape 6"/>
          <p:cNvSpPr/>
          <p:nvPr/>
        </p:nvSpPr>
        <p:spPr>
          <a:xfrm>
            <a:off x="9304020" y="2560320"/>
            <a:ext cx="3920490" cy="3657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990070" y="2971800"/>
            <a:ext cx="868680" cy="868680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0382" y="318211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24060" y="4114800"/>
            <a:ext cx="3234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2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 قصة تُفحص</a:t>
            </a:r>
            <a:endParaRPr lang="ar-S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9624060" y="4754880"/>
            <a:ext cx="32346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فحص أمان قبل الكتابة يفشل بأمان: إن حكى الطفل ما يقلق، يُنبَّه الوالد بهدوء.</a:t>
            </a:r>
            <a:endParaRPr lang="ar-SA" sz="1600" dirty="0"/>
          </a:p>
        </p:txBody>
      </p:sp>
      <p:sp>
        <p:nvSpPr>
          <p:cNvPr id="14" name="Shape 10"/>
          <p:cNvSpPr/>
          <p:nvPr/>
        </p:nvSpPr>
        <p:spPr>
          <a:xfrm>
            <a:off x="5063490" y="2560320"/>
            <a:ext cx="3920490" cy="3657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49540" y="2971800"/>
            <a:ext cx="868680" cy="868680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52" y="3182112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83530" y="4114800"/>
            <a:ext cx="3234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2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لا نحتفظ بالأصل</a:t>
            </a:r>
            <a:endParaRPr lang="ar-S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383530" y="4754880"/>
            <a:ext cx="32346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نحتفظ بالرسمة الكرتونية فقط، ولا نخزّن تسجيلات صوت الطفل.</a:t>
            </a:r>
            <a:endParaRPr lang="ar-SA" sz="1600" dirty="0"/>
          </a:p>
        </p:txBody>
      </p:sp>
      <p:sp>
        <p:nvSpPr>
          <p:cNvPr id="19" name="Shape 14"/>
          <p:cNvSpPr/>
          <p:nvPr/>
        </p:nvSpPr>
        <p:spPr>
          <a:xfrm>
            <a:off x="822960" y="2560320"/>
            <a:ext cx="3920490" cy="36576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509010" y="2971800"/>
            <a:ext cx="868680" cy="868680"/>
          </a:xfrm>
          <a:prstGeom prst="ellipse">
            <a:avLst/>
          </a:prstGeom>
          <a:solidFill>
            <a:srgbClr val="2F6FE0"/>
          </a:solidFill>
          <a:ln w="12700">
            <a:solidFill>
              <a:srgbClr val="2F6FE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322" y="3182112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4114800"/>
            <a:ext cx="3234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2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احذف متى شئت</a:t>
            </a:r>
            <a:endParaRPr lang="ar-SA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4754880"/>
            <a:ext cx="32346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6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زر واحد يحذف كل كتب الطفل ورسوماته وبياناته.</a:t>
            </a:r>
            <a:endParaRPr lang="ar-SA" sz="1600" dirty="0"/>
          </a:p>
        </p:txBody>
      </p:sp>
      <p:sp>
        <p:nvSpPr>
          <p:cNvPr id="24" name="Shape 18"/>
          <p:cNvSpPr/>
          <p:nvPr/>
        </p:nvSpPr>
        <p:spPr>
          <a:xfrm>
            <a:off x="822960" y="6995160"/>
            <a:ext cx="16642080" cy="1554480"/>
          </a:xfrm>
          <a:prstGeom prst="roundRect">
            <a:avLst>
              <a:gd name="adj" fmla="val 17647"/>
            </a:avLst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280160" y="7178040"/>
            <a:ext cx="1572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 نداءات الذكاء الاصطناعي من الخادم فقط. </a:t>
            </a:r>
            <a:pPr rtl="1" algn="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مفاتيح الخدمة لا تصل إلى المتصفح، وصور الطفل لا تُفتح إلا برمز الدخول، وكل عائلة ترى بيانات أطفالها فقط</a:t>
            </a:r>
            <a:endParaRPr lang="ar-SA" sz="1900" dirty="0"/>
          </a:p>
        </p:txBody>
      </p:sp>
      <p:pic>
        <p:nvPicPr>
          <p:cNvPr id="26" name="Image 4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13</a:t>
            </a:r>
            <a:endParaRPr lang="ar-SA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نحن مختلفون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ليس تطبيق قصص آخر…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بل طقس عائلي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9052560" y="2194560"/>
            <a:ext cx="2743200" cy="6583680"/>
          </a:xfrm>
          <a:prstGeom prst="roundRect">
            <a:avLst>
              <a:gd name="adj" fmla="val 8333"/>
            </a:avLst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05256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9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تطبيقات القصص</a:t>
            </a:r>
            <a:endParaRPr lang="ar-SA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9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الكتب المطبوعة</a:t>
            </a:r>
            <a:endParaRPr lang="ar-SA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9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فيديوهات الأطفال</a:t>
            </a:r>
            <a:endParaRPr lang="ar-SA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6642080" cy="0"/>
          </a:xfrm>
          <a:prstGeom prst="line">
            <a:avLst/>
          </a:prstGeom>
          <a:noFill/>
          <a:ln w="12700">
            <a:solidFill>
              <a:srgbClr val="3A3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95760" y="3337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القصة من يوم الطفل الحقيقي</a:t>
            </a:r>
            <a:endParaRPr lang="ar-SA" sz="1900" dirty="0"/>
          </a:p>
        </p:txBody>
      </p:sp>
      <p:sp>
        <p:nvSpPr>
          <p:cNvPr id="11" name="Shape 9"/>
          <p:cNvSpPr/>
          <p:nvPr/>
        </p:nvSpPr>
        <p:spPr>
          <a:xfrm>
            <a:off x="10149840" y="33832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520440"/>
            <a:ext cx="274320" cy="27432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520440"/>
            <a:ext cx="274320" cy="27432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20440"/>
            <a:ext cx="274320" cy="2743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52044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2960" y="4114800"/>
            <a:ext cx="16642080" cy="0"/>
          </a:xfrm>
          <a:prstGeom prst="line">
            <a:avLst/>
          </a:prstGeom>
          <a:noFill/>
          <a:ln w="12700">
            <a:solidFill>
              <a:srgbClr val="3A3F8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1795760" y="42519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الطفل هو البطل برسمته</a:t>
            </a:r>
            <a:endParaRPr lang="ar-SA" sz="1900" dirty="0"/>
          </a:p>
        </p:txBody>
      </p:sp>
      <p:sp>
        <p:nvSpPr>
          <p:cNvPr id="18" name="Shape 12"/>
          <p:cNvSpPr/>
          <p:nvPr/>
        </p:nvSpPr>
        <p:spPr>
          <a:xfrm>
            <a:off x="10149840" y="42976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434840"/>
            <a:ext cx="274320" cy="27432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4434840"/>
            <a:ext cx="274320" cy="274320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4434840"/>
            <a:ext cx="274320" cy="27432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0" y="4434840"/>
            <a:ext cx="274320" cy="27432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2960" y="5029200"/>
            <a:ext cx="16642080" cy="0"/>
          </a:xfrm>
          <a:prstGeom prst="line">
            <a:avLst/>
          </a:prstGeom>
          <a:noFill/>
          <a:ln w="12700">
            <a:solidFill>
              <a:srgbClr val="3A3F8F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11795760" y="51663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جسر من لهجته إلى الفصحى</a:t>
            </a:r>
            <a:endParaRPr lang="ar-SA" sz="1900" dirty="0"/>
          </a:p>
        </p:txBody>
      </p:sp>
      <p:sp>
        <p:nvSpPr>
          <p:cNvPr id="25" name="Shape 15"/>
          <p:cNvSpPr/>
          <p:nvPr/>
        </p:nvSpPr>
        <p:spPr>
          <a:xfrm>
            <a:off x="10149840" y="52120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349240"/>
            <a:ext cx="274320" cy="27432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5349240"/>
            <a:ext cx="274320" cy="274320"/>
          </a:xfrm>
          <a:prstGeom prst="rect">
            <a:avLst/>
          </a:prstGeom>
        </p:spPr>
      </p:pic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5349240"/>
            <a:ext cx="274320" cy="274320"/>
          </a:xfrm>
          <a:prstGeom prst="rect">
            <a:avLst/>
          </a:prstGeom>
        </p:spPr>
      </p:pic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7400" y="5349240"/>
            <a:ext cx="274320" cy="274320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822960" y="5943600"/>
            <a:ext cx="16642080" cy="0"/>
          </a:xfrm>
          <a:prstGeom prst="line">
            <a:avLst/>
          </a:prstGeom>
          <a:noFill/>
          <a:ln w="12700">
            <a:solidFill>
              <a:srgbClr val="3A3F8F"/>
            </a:solidFill>
            <a:prstDash val="solid"/>
          </a:ln>
        </p:spPr>
      </p:sp>
      <p:sp>
        <p:nvSpPr>
          <p:cNvPr id="31" name="Text 17"/>
          <p:cNvSpPr txBox="1"/>
          <p:nvPr/>
        </p:nvSpPr>
        <p:spPr>
          <a:xfrm>
            <a:off x="11795760" y="6080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الطفل يقرأ بنفسه حسب عمره</a:t>
            </a:r>
            <a:endParaRPr lang="ar-SA" sz="1900" dirty="0"/>
          </a:p>
        </p:txBody>
      </p:sp>
      <p:sp>
        <p:nvSpPr>
          <p:cNvPr id="32" name="Shape 18"/>
          <p:cNvSpPr/>
          <p:nvPr/>
        </p:nvSpPr>
        <p:spPr>
          <a:xfrm>
            <a:off x="10149840" y="61264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7000" y="6263640"/>
            <a:ext cx="274320" cy="274320"/>
          </a:xfrm>
          <a:prstGeom prst="rect">
            <a:avLst/>
          </a:prstGeom>
        </p:spPr>
      </p:pic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3800" y="6263640"/>
            <a:ext cx="274320" cy="274320"/>
          </a:xfrm>
          <a:prstGeom prst="rect">
            <a:avLst/>
          </a:prstGeom>
        </p:spPr>
      </p:pic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0600" y="6263640"/>
            <a:ext cx="274320" cy="274320"/>
          </a:xfrm>
          <a:prstGeom prst="rect">
            <a:avLst/>
          </a:prstGeom>
        </p:spPr>
      </p:pic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57400" y="6263640"/>
            <a:ext cx="274320" cy="274320"/>
          </a:xfrm>
          <a:prstGeom prst="rect">
            <a:avLst/>
          </a:prstGeom>
        </p:spPr>
      </p:pic>
      <p:sp>
        <p:nvSpPr>
          <p:cNvPr id="37" name="Shape 19"/>
          <p:cNvSpPr/>
          <p:nvPr/>
        </p:nvSpPr>
        <p:spPr>
          <a:xfrm>
            <a:off x="822960" y="6858000"/>
            <a:ext cx="16642080" cy="0"/>
          </a:xfrm>
          <a:prstGeom prst="line">
            <a:avLst/>
          </a:prstGeom>
          <a:noFill/>
          <a:ln w="12700">
            <a:solidFill>
              <a:srgbClr val="3A3F8F"/>
            </a:solidFill>
            <a:prstDash val="solid"/>
          </a:ln>
        </p:spPr>
      </p:sp>
      <p:sp>
        <p:nvSpPr>
          <p:cNvPr id="38" name="Text 20"/>
          <p:cNvSpPr txBox="1"/>
          <p:nvPr/>
        </p:nvSpPr>
        <p:spPr>
          <a:xfrm>
            <a:off x="11795760" y="69951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تقرير للوالدين وسؤال للحوار</a:t>
            </a:r>
            <a:endParaRPr lang="ar-SA" sz="1900" dirty="0"/>
          </a:p>
        </p:txBody>
      </p:sp>
      <p:sp>
        <p:nvSpPr>
          <p:cNvPr id="39" name="Shape 21"/>
          <p:cNvSpPr/>
          <p:nvPr/>
        </p:nvSpPr>
        <p:spPr>
          <a:xfrm>
            <a:off x="10149840" y="70408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87000" y="7178040"/>
            <a:ext cx="274320" cy="274320"/>
          </a:xfrm>
          <a:prstGeom prst="rect">
            <a:avLst/>
          </a:prstGeom>
        </p:spPr>
      </p:pic>
      <p:pic>
        <p:nvPicPr>
          <p:cNvPr id="41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7178040"/>
            <a:ext cx="274320" cy="274320"/>
          </a:xfrm>
          <a:prstGeom prst="rect">
            <a:avLst/>
          </a:prstGeom>
        </p:spPr>
      </p:pic>
      <p:pic>
        <p:nvPicPr>
          <p:cNvPr id="42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00600" y="7178040"/>
            <a:ext cx="274320" cy="274320"/>
          </a:xfrm>
          <a:prstGeom prst="rect">
            <a:avLst/>
          </a:prstGeom>
        </p:spPr>
      </p:pic>
      <p:pic>
        <p:nvPicPr>
          <p:cNvPr id="43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57400" y="7178040"/>
            <a:ext cx="274320" cy="274320"/>
          </a:xfrm>
          <a:prstGeom prst="rect">
            <a:avLst/>
          </a:prstGeom>
        </p:spPr>
      </p:pic>
      <p:sp>
        <p:nvSpPr>
          <p:cNvPr id="44" name="Shape 22"/>
          <p:cNvSpPr/>
          <p:nvPr/>
        </p:nvSpPr>
        <p:spPr>
          <a:xfrm>
            <a:off x="822960" y="7772400"/>
            <a:ext cx="16642080" cy="0"/>
          </a:xfrm>
          <a:prstGeom prst="line">
            <a:avLst/>
          </a:prstGeom>
          <a:noFill/>
          <a:ln w="12700">
            <a:solidFill>
              <a:srgbClr val="3A3F8F"/>
            </a:solidFill>
            <a:prstDash val="solid"/>
          </a:ln>
        </p:spPr>
      </p:sp>
      <p:sp>
        <p:nvSpPr>
          <p:cNvPr id="45" name="Text 23"/>
          <p:cNvSpPr txBox="1"/>
          <p:nvPr/>
        </p:nvSpPr>
        <p:spPr>
          <a:xfrm>
            <a:off x="11795760" y="7909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يُغلق بعد القصة (ضد الإدمان)</a:t>
            </a:r>
            <a:endParaRPr lang="ar-SA" sz="1900" dirty="0"/>
          </a:p>
        </p:txBody>
      </p:sp>
      <p:sp>
        <p:nvSpPr>
          <p:cNvPr id="46" name="Shape 24"/>
          <p:cNvSpPr/>
          <p:nvPr/>
        </p:nvSpPr>
        <p:spPr>
          <a:xfrm>
            <a:off x="10149840" y="79552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87000" y="8092440"/>
            <a:ext cx="274320" cy="274320"/>
          </a:xfrm>
          <a:prstGeom prst="rect">
            <a:avLst/>
          </a:prstGeom>
        </p:spPr>
      </p:pic>
      <p:pic>
        <p:nvPicPr>
          <p:cNvPr id="48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43800" y="8092440"/>
            <a:ext cx="274320" cy="274320"/>
          </a:xfrm>
          <a:prstGeom prst="rect">
            <a:avLst/>
          </a:prstGeom>
        </p:spPr>
      </p:pic>
      <p:pic>
        <p:nvPicPr>
          <p:cNvPr id="49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00600" y="8092440"/>
            <a:ext cx="274320" cy="274320"/>
          </a:xfrm>
          <a:prstGeom prst="rect">
            <a:avLst/>
          </a:prstGeom>
        </p:spPr>
      </p:pic>
      <p:pic>
        <p:nvPicPr>
          <p:cNvPr id="50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57400" y="8092440"/>
            <a:ext cx="274320" cy="274320"/>
          </a:xfrm>
          <a:prstGeom prst="rect">
            <a:avLst/>
          </a:prstGeom>
        </p:spPr>
      </p:pic>
      <p:sp>
        <p:nvSpPr>
          <p:cNvPr id="51" name="Text 25"/>
          <p:cNvSpPr txBox="1"/>
          <p:nvPr/>
        </p:nvSpPr>
        <p:spPr>
          <a:xfrm>
            <a:off x="822960" y="900684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A9AED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الأقرب إلينا يصنع قصصًا عامة بالإنجليزية؛ لا أحد يبدأ من يوم الطفل ويعبر به من لهجته إلى الفصحى.</a:t>
            </a:r>
            <a:endParaRPr lang="ar-SA" sz="1500" dirty="0"/>
          </a:p>
        </p:txBody>
      </p:sp>
      <p:pic>
        <p:nvPicPr>
          <p:cNvPr id="52" name="Image 24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53" name="Text 26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54" name="Text 27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14</a:t>
            </a:r>
            <a:endParaRPr lang="ar-SA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كيف بنيناه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منتج يعمل اليوم،</a:t>
            </a:r>
            <a:pPr rtl="1" algn="r" indent="0" marL="0">
              <a:buNone/>
            </a:pPr>
            <a:r>
              <a:rPr lang="ar-SA" sz="44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لا مجرد فكرة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4721840" y="2468880"/>
            <a:ext cx="2743200" cy="265176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81960" y="2788920"/>
            <a:ext cx="822960" cy="822960"/>
          </a:xfrm>
          <a:prstGeom prst="ellipse">
            <a:avLst/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3128" y="29900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5900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صوت الطفل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904720" y="4251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4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تحويل الكلام إلى نص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990320" y="3383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←</a:t>
            </a:r>
            <a:endParaRPr lang="ar-SA" sz="2800" dirty="0"/>
          </a:p>
        </p:txBody>
      </p:sp>
      <p:sp>
        <p:nvSpPr>
          <p:cNvPr id="10" name="Shape 7"/>
          <p:cNvSpPr/>
          <p:nvPr/>
        </p:nvSpPr>
        <p:spPr>
          <a:xfrm>
            <a:off x="11247120" y="2468880"/>
            <a:ext cx="2743200" cy="265176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2207240" y="2788920"/>
            <a:ext cx="822960" cy="822960"/>
          </a:xfrm>
          <a:prstGeom prst="ellipse">
            <a:avLst/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8408" y="299008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38428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فحص الأمان</a:t>
            </a:r>
            <a:endParaRPr lang="ar-SA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0" y="4251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4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يتوقف عند أي شك</a:t>
            </a:r>
            <a:endParaRPr lang="ar-SA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0" y="3383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←</a:t>
            </a:r>
            <a:endParaRPr lang="ar-SA" sz="2800" dirty="0"/>
          </a:p>
        </p:txBody>
      </p:sp>
      <p:sp>
        <p:nvSpPr>
          <p:cNvPr id="16" name="Shape 12"/>
          <p:cNvSpPr/>
          <p:nvPr/>
        </p:nvSpPr>
        <p:spPr>
          <a:xfrm>
            <a:off x="7772400" y="2468880"/>
            <a:ext cx="2743200" cy="265176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32520" y="2788920"/>
            <a:ext cx="822960" cy="822960"/>
          </a:xfrm>
          <a:prstGeom prst="ellipse">
            <a:avLst/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29900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0956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كاتب القصة</a:t>
            </a:r>
            <a:endParaRPr lang="ar-SA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955280" y="4251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4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 صفحات + جسر لهجة + معلومات</a:t>
            </a:r>
            <a:endParaRPr lang="ar-SA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040880" y="3383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←</a:t>
            </a:r>
            <a:endParaRPr lang="ar-SA" sz="2800" dirty="0"/>
          </a:p>
        </p:txBody>
      </p:sp>
      <p:sp>
        <p:nvSpPr>
          <p:cNvPr id="22" name="Shape 17"/>
          <p:cNvSpPr/>
          <p:nvPr/>
        </p:nvSpPr>
        <p:spPr>
          <a:xfrm>
            <a:off x="4297680" y="2468880"/>
            <a:ext cx="2743200" cy="265176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57800" y="2788920"/>
            <a:ext cx="822960" cy="822960"/>
          </a:xfrm>
          <a:prstGeom prst="ellipse">
            <a:avLst/>
          </a:prstGeom>
          <a:solidFill>
            <a:srgbClr val="E8A21A"/>
          </a:solidFill>
          <a:ln w="12700">
            <a:solidFill>
              <a:srgbClr val="E8A21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2990088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43484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الرسّام</a:t>
            </a:r>
            <a:endParaRPr lang="ar-SA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4480560" y="4251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4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صورة الطفل ← كرتون + غلاف</a:t>
            </a:r>
            <a:endParaRPr lang="ar-SA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3566160" y="3383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←</a:t>
            </a:r>
            <a:endParaRPr lang="ar-SA" sz="2800" dirty="0"/>
          </a:p>
        </p:txBody>
      </p:sp>
      <p:sp>
        <p:nvSpPr>
          <p:cNvPr id="28" name="Shape 22"/>
          <p:cNvSpPr/>
          <p:nvPr/>
        </p:nvSpPr>
        <p:spPr>
          <a:xfrm>
            <a:off x="822960" y="2468880"/>
            <a:ext cx="2743200" cy="265176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783080" y="2788920"/>
            <a:ext cx="822960" cy="822960"/>
          </a:xfrm>
          <a:prstGeom prst="ellipse">
            <a:avLst/>
          </a:prstGeom>
          <a:solidFill>
            <a:srgbClr val="2F6FE0"/>
          </a:solidFill>
          <a:ln w="12700">
            <a:solidFill>
              <a:srgbClr val="2F6FE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248" y="2990088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0120" y="3749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0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صوت الهدهد</a:t>
            </a:r>
            <a:endParaRPr lang="ar-SA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1005840" y="4251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14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قراءة طبيعية لكل صفحة</a:t>
            </a:r>
            <a:endParaRPr lang="ar-SA" sz="1400" dirty="0"/>
          </a:p>
        </p:txBody>
      </p:sp>
      <p:sp>
        <p:nvSpPr>
          <p:cNvPr id="33" name="Shape 26"/>
          <p:cNvSpPr/>
          <p:nvPr/>
        </p:nvSpPr>
        <p:spPr>
          <a:xfrm>
            <a:off x="14538960" y="5532120"/>
            <a:ext cx="2926080" cy="594360"/>
          </a:xfrm>
          <a:prstGeom prst="roundRect">
            <a:avLst>
              <a:gd name="adj" fmla="val 30769"/>
            </a:avLst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14538960" y="5550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6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الواجهة</a:t>
            </a:r>
            <a:endParaRPr lang="ar-SA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22960" y="5550408"/>
            <a:ext cx="1344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1E215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ويب خفيفة بلا تثبيت · عربي وإنجليزي · جوال وحاسوب</a:t>
            </a:r>
            <a:endParaRPr lang="ar-SA" sz="1700" dirty="0"/>
          </a:p>
        </p:txBody>
      </p:sp>
      <p:sp>
        <p:nvSpPr>
          <p:cNvPr id="36" name="Shape 29"/>
          <p:cNvSpPr/>
          <p:nvPr/>
        </p:nvSpPr>
        <p:spPr>
          <a:xfrm>
            <a:off x="14538960" y="6309360"/>
            <a:ext cx="2926080" cy="594360"/>
          </a:xfrm>
          <a:prstGeom prst="roundRect">
            <a:avLst>
              <a:gd name="adj" fmla="val 30769"/>
            </a:avLst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4538960" y="63276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6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الخادم</a:t>
            </a:r>
            <a:endParaRPr lang="ar-SA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822960" y="6327648"/>
            <a:ext cx="1344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1E215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خادم FastAPI · حسابات آمنة · قاعدة بيانات · Docker</a:t>
            </a:r>
            <a:endParaRPr lang="ar-SA" sz="1700" dirty="0"/>
          </a:p>
        </p:txBody>
      </p:sp>
      <p:sp>
        <p:nvSpPr>
          <p:cNvPr id="39" name="Shape 32"/>
          <p:cNvSpPr/>
          <p:nvPr/>
        </p:nvSpPr>
        <p:spPr>
          <a:xfrm>
            <a:off x="14538960" y="7086600"/>
            <a:ext cx="2926080" cy="594360"/>
          </a:xfrm>
          <a:prstGeom prst="roundRect">
            <a:avLst>
              <a:gd name="adj" fmla="val 30769"/>
            </a:avLst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4538960" y="71048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6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الذكاء الاصطناعي</a:t>
            </a:r>
            <a:endParaRPr lang="ar-SA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822960" y="7104888"/>
            <a:ext cx="1344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1E215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نماذج OpenAI للنص والصورة والصوت · كلها من الخادم</a:t>
            </a:r>
            <a:endParaRPr lang="ar-SA" sz="1700" dirty="0"/>
          </a:p>
        </p:txBody>
      </p:sp>
      <p:sp>
        <p:nvSpPr>
          <p:cNvPr id="42" name="Shape 35"/>
          <p:cNvSpPr/>
          <p:nvPr/>
        </p:nvSpPr>
        <p:spPr>
          <a:xfrm>
            <a:off x="14538960" y="7863840"/>
            <a:ext cx="2926080" cy="594360"/>
          </a:xfrm>
          <a:prstGeom prst="roundRect">
            <a:avLst>
              <a:gd name="adj" fmla="val 30769"/>
            </a:avLst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14538960" y="7882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6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الاعتمادية</a:t>
            </a:r>
            <a:endParaRPr lang="ar-SA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822960" y="7882128"/>
            <a:ext cx="1344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1E215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وضع عرض لا يتوقف · قصة احتياطية · فحص اتصال لكل ميزة · اختبارات آلية</a:t>
            </a:r>
            <a:endParaRPr lang="ar-SA" sz="1700" dirty="0"/>
          </a:p>
        </p:txBody>
      </p:sp>
      <p:pic>
        <p:nvPicPr>
          <p:cNvPr id="45" name="Image 5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47" name="Text 39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15</a:t>
            </a:r>
            <a:endParaRPr lang="ar-SA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النموذج والأثر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كيف ننمو…</a:t>
            </a:r>
            <a:pPr rtl="1" algn="r" indent="0" marL="0">
              <a:buNone/>
            </a:pPr>
            <a:r>
              <a:rPr lang="ar-SA" sz="4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وكيف نقيس الأثر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4310360" y="2331720"/>
            <a:ext cx="3154680" cy="5760720"/>
          </a:xfrm>
          <a:prstGeom prst="roundRect">
            <a:avLst>
              <a:gd name="adj" fmla="val 8696"/>
            </a:avLst>
          </a:prstGeom>
          <a:solidFill>
            <a:srgbClr val="2A2F7A"/>
          </a:solidFill>
          <a:ln w="12700">
            <a:solidFill>
              <a:srgbClr val="4A4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0" y="2697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FA383"/>
          </a:solidFill>
          <a:ln w="12700">
            <a:solidFill>
              <a:srgbClr val="1FA38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0" y="2715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للتجربة</a:t>
            </a:r>
            <a:endParaRPr lang="ar-SA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0" y="3337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مجاني</a:t>
            </a:r>
            <a:endParaRPr lang="ar-SA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0" y="4206240"/>
            <a:ext cx="2606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 كتب في الأسبوع</a:t>
            </a:r>
            <a:endParaRPr lang="ar-SA" sz="18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بطل كرتوني واحد</a:t>
            </a:r>
            <a:endParaRPr lang="ar-SA" sz="18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تقرير صباحي مختصر</a:t>
            </a:r>
            <a:endParaRPr lang="ar-SA" sz="1800" dirty="0"/>
          </a:p>
        </p:txBody>
      </p:sp>
      <p:sp>
        <p:nvSpPr>
          <p:cNvPr id="9" name="Shape 7"/>
          <p:cNvSpPr/>
          <p:nvPr/>
        </p:nvSpPr>
        <p:spPr>
          <a:xfrm>
            <a:off x="10881360" y="2331720"/>
            <a:ext cx="3154680" cy="57607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201400" y="2697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201400" y="2715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اشتراك شهري</a:t>
            </a:r>
            <a:endParaRPr lang="ar-SA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201400" y="3337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العائلة</a:t>
            </a:r>
            <a:endParaRPr lang="ar-SA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201400" y="4206240"/>
            <a:ext cx="2606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كتاب كل ليلة</a:t>
            </a:r>
            <a:endParaRPr lang="ar-SA" sz="18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حتى 3 أطفال</a:t>
            </a:r>
            <a:endParaRPr lang="ar-SA" sz="18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صوت الهدهد كاملًا</a:t>
            </a:r>
            <a:endParaRPr lang="ar-SA" sz="18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تقرير كامل للوالدين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7452360" y="2331720"/>
            <a:ext cx="3154680" cy="5760720"/>
          </a:xfrm>
          <a:prstGeom prst="roundRect">
            <a:avLst>
              <a:gd name="adj" fmla="val 8696"/>
            </a:avLst>
          </a:prstGeom>
          <a:solidFill>
            <a:srgbClr val="2A2F7A"/>
          </a:solidFill>
          <a:ln w="12700">
            <a:solidFill>
              <a:srgbClr val="4A4F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2697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7A5AF0"/>
          </a:solidFill>
          <a:ln w="12700">
            <a:solidFill>
              <a:srgbClr val="7A5A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2715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ترخيص سنوي</a:t>
            </a:r>
            <a:endParaRPr lang="ar-SA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337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المدارس</a:t>
            </a:r>
            <a:endParaRPr lang="ar-SA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206240"/>
            <a:ext cx="2606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للمعلمين</a:t>
            </a:r>
            <a:endParaRPr lang="ar-SA" sz="18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أهداف القراءة للصف</a:t>
            </a:r>
            <a:endParaRPr lang="ar-SA" sz="1800" dirty="0"/>
          </a:p>
          <a:p>
            <a:pPr rtl="1"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كتاب مطبوع لكل طفل آخر العام</a:t>
            </a:r>
            <a:endParaRPr lang="ar-SA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822960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نموذج مقترح للتجربة الأولى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2331720"/>
            <a:ext cx="6263640" cy="5760720"/>
          </a:xfrm>
          <a:prstGeom prst="roundRect">
            <a:avLst>
              <a:gd name="adj" fmla="val 4762"/>
            </a:avLst>
          </a:prstGeom>
          <a:solidFill>
            <a:srgbClr val="FFC23D"/>
          </a:solidFill>
          <a:ln w="12700">
            <a:solidFill>
              <a:srgbClr val="FFC2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265176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نقيسه كل ليلة</a:t>
            </a:r>
            <a:endParaRPr lang="ar-SA" sz="2400" dirty="0"/>
          </a:p>
        </p:txBody>
      </p:sp>
      <p:sp>
        <p:nvSpPr>
          <p:cNvPr id="22" name="Shape 20"/>
          <p:cNvSpPr/>
          <p:nvPr/>
        </p:nvSpPr>
        <p:spPr>
          <a:xfrm>
            <a:off x="6217920" y="3474720"/>
            <a:ext cx="457200" cy="457200"/>
          </a:xfrm>
          <a:prstGeom prst="ellipse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</a:t>
            </a:r>
            <a:endParaRPr lang="ar-SA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429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الكلمات التي قرأها الطفل وحده</a:t>
            </a:r>
            <a:endParaRPr lang="ar-SA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5B462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يجب أن تزيد أسبوعًا بعد أسبوع</a:t>
            </a:r>
            <a:endParaRPr lang="ar-SA" sz="1500" dirty="0"/>
          </a:p>
        </p:txBody>
      </p:sp>
      <p:sp>
        <p:nvSpPr>
          <p:cNvPr id="26" name="Shape 24"/>
          <p:cNvSpPr/>
          <p:nvPr/>
        </p:nvSpPr>
        <p:spPr>
          <a:xfrm>
            <a:off x="6217920" y="4590288"/>
            <a:ext cx="457200" cy="457200"/>
          </a:xfrm>
          <a:prstGeom prst="ellipse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</a:t>
            </a:r>
            <a:endParaRPr lang="ar-SA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544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كلمات الفصحى الجديدة</a:t>
            </a:r>
            <a:endParaRPr lang="ar-SA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5001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5B462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لهجته إلى لغة الكتاب</a:t>
            </a:r>
            <a:endParaRPr lang="ar-SA" sz="1500" dirty="0"/>
          </a:p>
        </p:txBody>
      </p:sp>
      <p:sp>
        <p:nvSpPr>
          <p:cNvPr id="30" name="Shape 28"/>
          <p:cNvSpPr/>
          <p:nvPr/>
        </p:nvSpPr>
        <p:spPr>
          <a:xfrm>
            <a:off x="6217920" y="5705856"/>
            <a:ext cx="457200" cy="457200"/>
          </a:xfrm>
          <a:prstGeom prst="ellipse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5705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3</a:t>
            </a:r>
            <a:endParaRPr lang="ar-SA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6601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الليالي التي فيها كتاب</a:t>
            </a:r>
            <a:endParaRPr lang="ar-SA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61173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5B462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هل أصبح طقسًا؟</a:t>
            </a:r>
            <a:endParaRPr lang="ar-SA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6821424"/>
            <a:ext cx="457200" cy="457200"/>
          </a:xfrm>
          <a:prstGeom prst="ellipse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0" y="6821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5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4</a:t>
            </a:r>
            <a:endParaRPr lang="ar-SA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6775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9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دقائق القراءة معًا</a:t>
            </a:r>
            <a:endParaRPr lang="ar-SA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72329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5B462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وقت عائلي حقيقي بلا شاشة مفتوحة</a:t>
            </a:r>
            <a:endParaRPr lang="ar-SA" sz="1500" dirty="0"/>
          </a:p>
        </p:txBody>
      </p:sp>
      <p:pic>
        <p:nvPicPr>
          <p:cNvPr id="38" name="Image 0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A9AED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16</a:t>
            </a:r>
            <a:endParaRPr lang="ar-SA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664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8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خارطة الطريق</a:t>
            </a:r>
            <a:endParaRPr lang="ar-SA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664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44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 نموذج يعمل…</a:t>
            </a:r>
            <a:pPr rtl="1" algn="r" indent="0" marL="0">
              <a:buNone/>
            </a:pPr>
            <a:r>
              <a:rPr lang="ar-SA" sz="44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إلى عادة في كل بيت</a:t>
            </a:r>
            <a:endParaRPr lang="ar-SA" sz="4400" dirty="0"/>
          </a:p>
        </p:txBody>
      </p:sp>
      <p:sp>
        <p:nvSpPr>
          <p:cNvPr id="4" name="Shape 2"/>
          <p:cNvSpPr/>
          <p:nvPr/>
        </p:nvSpPr>
        <p:spPr>
          <a:xfrm>
            <a:off x="1737360" y="2971800"/>
            <a:ext cx="14813280" cy="0"/>
          </a:xfrm>
          <a:prstGeom prst="line">
            <a:avLst/>
          </a:prstGeom>
          <a:noFill/>
          <a:ln w="38100">
            <a:solidFill>
              <a:srgbClr val="E3C9B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201900" y="2514600"/>
            <a:ext cx="914400" cy="914400"/>
          </a:xfrm>
          <a:prstGeom prst="ellipse">
            <a:avLst/>
          </a:prstGeom>
          <a:solidFill>
            <a:srgbClr val="1FA383"/>
          </a:solidFill>
          <a:ln w="50800">
            <a:solidFill>
              <a:srgbClr val="FFF4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9644" y="2734056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853160" y="3703320"/>
            <a:ext cx="3611880" cy="3291840"/>
          </a:xfrm>
          <a:prstGeom prst="roundRect">
            <a:avLst>
              <a:gd name="adj" fmla="val 8333"/>
            </a:avLst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417320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الآن</a:t>
            </a:r>
            <a:endParaRPr lang="ar-SA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0" y="4389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5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منتج يعمل</a:t>
            </a:r>
            <a:endParaRPr lang="ar-SA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0" y="51663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موقع + تطبيق ويب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عربي وإنجليزي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ذكاء اصطناعي كامل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D9DBF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وضع عرض لا يتوقف</a:t>
            </a:r>
            <a:endParaRPr lang="ar-SA" sz="1800" dirty="0"/>
          </a:p>
        </p:txBody>
      </p:sp>
      <p:sp>
        <p:nvSpPr>
          <p:cNvPr id="11" name="Shape 8"/>
          <p:cNvSpPr/>
          <p:nvPr/>
        </p:nvSpPr>
        <p:spPr>
          <a:xfrm>
            <a:off x="11269980" y="2514600"/>
            <a:ext cx="914400" cy="914400"/>
          </a:xfrm>
          <a:prstGeom prst="ellipse">
            <a:avLst/>
          </a:prstGeom>
          <a:solidFill>
            <a:srgbClr val="F26B4F"/>
          </a:solidFill>
          <a:ln w="50800">
            <a:solidFill>
              <a:srgbClr val="FFF4E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724" y="2734056"/>
            <a:ext cx="438912" cy="4389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921240" y="3703320"/>
            <a:ext cx="3611880" cy="32918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1024128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26B4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3 أشهر</a:t>
            </a:r>
            <a:endParaRPr lang="ar-SA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0241280" y="4389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5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تجربة ميدانية</a:t>
            </a:r>
            <a:endParaRPr lang="ar-SA" sz="2500" dirty="0"/>
          </a:p>
        </p:txBody>
      </p:sp>
      <p:sp>
        <p:nvSpPr>
          <p:cNvPr id="16" name="Text 12"/>
          <p:cNvSpPr txBox="1"/>
          <p:nvPr/>
        </p:nvSpPr>
        <p:spPr>
          <a:xfrm>
            <a:off x="10241280" y="51663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50 عائلة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قياس الكلمات المقروءة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تحسين الأسئلة مع مختصين</a:t>
            </a:r>
            <a:endParaRPr lang="ar-SA" sz="1800" dirty="0"/>
          </a:p>
        </p:txBody>
      </p:sp>
      <p:sp>
        <p:nvSpPr>
          <p:cNvPr id="17" name="Shape 13"/>
          <p:cNvSpPr/>
          <p:nvPr/>
        </p:nvSpPr>
        <p:spPr>
          <a:xfrm>
            <a:off x="7338060" y="2514600"/>
            <a:ext cx="914400" cy="914400"/>
          </a:xfrm>
          <a:prstGeom prst="ellipse">
            <a:avLst/>
          </a:prstGeom>
          <a:solidFill>
            <a:srgbClr val="7A5AF0"/>
          </a:solidFill>
          <a:ln w="50800">
            <a:solidFill>
              <a:srgbClr val="FFF4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804" y="2734056"/>
            <a:ext cx="438912" cy="4389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989320" y="3703320"/>
            <a:ext cx="3611880" cy="32918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630936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7A5AF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6 أشهر</a:t>
            </a:r>
            <a:endParaRPr lang="ar-SA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4389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5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التوسّع</a:t>
            </a:r>
            <a:endParaRPr lang="ar-SA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51663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لهجات خليجية وعربية أخرى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تطبيق جوال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كتاب مطبوع للعائلة</a:t>
            </a:r>
            <a:endParaRPr lang="ar-SA" sz="1800" dirty="0"/>
          </a:p>
        </p:txBody>
      </p:sp>
      <p:sp>
        <p:nvSpPr>
          <p:cNvPr id="23" name="Shape 18"/>
          <p:cNvSpPr/>
          <p:nvPr/>
        </p:nvSpPr>
        <p:spPr>
          <a:xfrm>
            <a:off x="3406140" y="2514600"/>
            <a:ext cx="914400" cy="914400"/>
          </a:xfrm>
          <a:prstGeom prst="ellipse">
            <a:avLst/>
          </a:prstGeom>
          <a:solidFill>
            <a:srgbClr val="2F6FE0"/>
          </a:solidFill>
          <a:ln w="50800">
            <a:solidFill>
              <a:srgbClr val="FFF4E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2734056"/>
            <a:ext cx="438912" cy="43891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2057400" y="3703320"/>
            <a:ext cx="3611880" cy="32918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1E4DC"/>
            </a:solidFill>
            <a:prstDash val="solid"/>
          </a:ln>
          <a:effectLst>
            <a:outerShdw sx="100000" sy="100000" kx="0" ky="0" algn="bl" rotWithShape="0" blurRad="177800" dist="50800" dir="5400000">
              <a:srgbClr val="1B1F5E">
                <a:alpha val="14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237744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2F6FE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12 شهرًا</a:t>
            </a:r>
            <a:endParaRPr lang="ar-SA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2377440" y="4389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500" dirty="0">
                <a:solidFill>
                  <a:srgbClr val="1E215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المدارس</a:t>
            </a:r>
            <a:endParaRPr lang="ar-SA" sz="2500" dirty="0"/>
          </a:p>
        </p:txBody>
      </p:sp>
      <p:sp>
        <p:nvSpPr>
          <p:cNvPr id="28" name="Text 22"/>
          <p:cNvSpPr txBox="1"/>
          <p:nvPr/>
        </p:nvSpPr>
        <p:spPr>
          <a:xfrm>
            <a:off x="2377440" y="516636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شراكات مع مدارس ومكتبات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للمعلمين</a:t>
            </a:r>
            <a:endParaRPr lang="ar-SA" sz="18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sz="1800" dirty="0">
                <a:solidFill>
                  <a:srgbClr val="5D618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أهداف قراءة للصف</a:t>
            </a:r>
            <a:endParaRPr lang="ar-SA" sz="1800" dirty="0"/>
          </a:p>
        </p:txBody>
      </p:sp>
      <p:pic>
        <p:nvPicPr>
          <p:cNvPr id="29" name="Image 4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9628632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61872" y="9646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16550640" y="96469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5D618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17</a:t>
            </a:r>
            <a:endParaRPr lang="ar-SA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little-reader/1894439b-687e-591f-a669-175efcd7d324/scratchpad/img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926080"/>
            <a:ext cx="3108960" cy="3340031"/>
          </a:xfrm>
          <a:prstGeom prst="rect">
            <a:avLst/>
          </a:prstGeom>
        </p:spPr>
      </p:pic>
      <p:pic>
        <p:nvPicPr>
          <p:cNvPr id="3" name="Image 1" descr="/tmp/claude-0/-home-user-little-reader/1894439b-687e-591f-a669-175efcd7d324/scratchpad/img/imag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0" y="914400"/>
            <a:ext cx="1280160" cy="1280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0" y="2377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8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القارئ الصغير</a:t>
            </a:r>
            <a:endParaRPr lang="ar-SA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6858000" y="338328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5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 يومٍ في حياة طفل…</a:t>
            </a:r>
            <a:endParaRPr lang="ar-SA" sz="5400" dirty="0"/>
          </a:p>
          <a:p>
            <a:pPr rtl="1" algn="r" indent="0" marL="0">
              <a:buNone/>
            </a:pPr>
            <a:r>
              <a:rPr lang="ar-SA" sz="5400" dirty="0">
                <a:solidFill>
                  <a:srgbClr val="FFC23D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حكايةٌ تستحق أن تُقرأ.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6858000" y="5989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sz="2100" dirty="0">
                <a:solidFill>
                  <a:srgbClr val="E4E5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نطلب منكم: فرصة لتجربة ميدانية مع 50 عائلة، وشركاء من المدارس والمكتبات.</a:t>
            </a:r>
            <a:endParaRPr lang="ar-SA" sz="2100" dirty="0"/>
          </a:p>
        </p:txBody>
      </p:sp>
      <p:sp>
        <p:nvSpPr>
          <p:cNvPr id="7" name="Shape 3"/>
          <p:cNvSpPr/>
          <p:nvPr/>
        </p:nvSpPr>
        <p:spPr>
          <a:xfrm>
            <a:off x="11795760" y="7223760"/>
            <a:ext cx="5669280" cy="914400"/>
          </a:xfrm>
          <a:prstGeom prst="roundRect">
            <a:avLst>
              <a:gd name="adj" fmla="val 50000"/>
            </a:avLst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11795760" y="7242048"/>
            <a:ext cx="5669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2400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الليلة… ماذا سيحكي طفلك؟</a:t>
            </a:r>
            <a:endParaRPr lang="ar-SA" sz="2400" dirty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075" y="3076575"/>
            <a:ext cx="595122" cy="1870710"/>
            <a:chOff x="0" y="0"/>
            <a:chExt cx="793496" cy="24942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3496" cy="2494280"/>
            </a:xfrm>
            <a:custGeom>
              <a:avLst/>
              <a:gdLst/>
              <a:ahLst/>
              <a:cxnLst/>
              <a:rect r="r" b="b" t="t" l="l"/>
              <a:pathLst>
                <a:path h="2494280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380869"/>
                  </a:lnTo>
                  <a:cubicBezTo>
                    <a:pt x="793496" y="2443480"/>
                    <a:pt x="742696" y="2494280"/>
                    <a:pt x="680085" y="2494280"/>
                  </a:cubicBezTo>
                  <a:lnTo>
                    <a:pt x="113411" y="2494280"/>
                  </a:lnTo>
                  <a:cubicBezTo>
                    <a:pt x="50800" y="2494280"/>
                    <a:pt x="0" y="2443480"/>
                    <a:pt x="0" y="2380869"/>
                  </a:cubicBezTo>
                  <a:close/>
                </a:path>
              </a:pathLst>
            </a:custGeom>
            <a:solidFill>
              <a:srgbClr val="EF6A45"/>
            </a:solidFill>
            <a:ln w="19050" cap="sq">
              <a:solidFill>
                <a:srgbClr val="EF6A45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020443" y="2857119"/>
            <a:ext cx="595122" cy="2090166"/>
            <a:chOff x="0" y="0"/>
            <a:chExt cx="793496" cy="27868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3496" cy="2786888"/>
            </a:xfrm>
            <a:custGeom>
              <a:avLst/>
              <a:gdLst/>
              <a:ahLst/>
              <a:cxnLst/>
              <a:rect r="r" b="b" t="t" l="l"/>
              <a:pathLst>
                <a:path h="2786888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673477"/>
                  </a:lnTo>
                  <a:cubicBezTo>
                    <a:pt x="793496" y="2736088"/>
                    <a:pt x="742696" y="2786888"/>
                    <a:pt x="680085" y="2786888"/>
                  </a:cubicBezTo>
                  <a:lnTo>
                    <a:pt x="113411" y="2786888"/>
                  </a:lnTo>
                  <a:cubicBezTo>
                    <a:pt x="50800" y="2786888"/>
                    <a:pt x="0" y="2736088"/>
                    <a:pt x="0" y="2673477"/>
                  </a:cubicBezTo>
                  <a:close/>
                </a:path>
              </a:pathLst>
            </a:custGeom>
            <a:solidFill>
              <a:srgbClr val="FFC23D"/>
            </a:solidFill>
            <a:ln w="19050" cap="sq">
              <a:solidFill>
                <a:srgbClr val="FFC23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678811" y="2637663"/>
            <a:ext cx="595122" cy="2309622"/>
            <a:chOff x="0" y="0"/>
            <a:chExt cx="793496" cy="30794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3496" cy="3079496"/>
            </a:xfrm>
            <a:custGeom>
              <a:avLst/>
              <a:gdLst/>
              <a:ahLst/>
              <a:cxnLst/>
              <a:rect r="r" b="b" t="t" l="l"/>
              <a:pathLst>
                <a:path h="3079496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966085"/>
                  </a:lnTo>
                  <a:cubicBezTo>
                    <a:pt x="793496" y="3028696"/>
                    <a:pt x="742696" y="3079496"/>
                    <a:pt x="680085" y="3079496"/>
                  </a:cubicBezTo>
                  <a:lnTo>
                    <a:pt x="113411" y="3079496"/>
                  </a:lnTo>
                  <a:cubicBezTo>
                    <a:pt x="50800" y="3079496"/>
                    <a:pt x="0" y="3028696"/>
                    <a:pt x="0" y="2966085"/>
                  </a:cubicBezTo>
                  <a:close/>
                </a:path>
              </a:pathLst>
            </a:custGeom>
            <a:solidFill>
              <a:srgbClr val="3FB5A6"/>
            </a:solidFill>
            <a:ln w="19050" cap="sq">
              <a:solidFill>
                <a:srgbClr val="3FB5A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337179" y="2966847"/>
            <a:ext cx="595122" cy="1980438"/>
            <a:chOff x="0" y="0"/>
            <a:chExt cx="793496" cy="26405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3496" cy="2640584"/>
            </a:xfrm>
            <a:custGeom>
              <a:avLst/>
              <a:gdLst/>
              <a:ahLst/>
              <a:cxnLst/>
              <a:rect r="r" b="b" t="t" l="l"/>
              <a:pathLst>
                <a:path h="2640584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527173"/>
                  </a:lnTo>
                  <a:cubicBezTo>
                    <a:pt x="793496" y="2589784"/>
                    <a:pt x="742696" y="2640584"/>
                    <a:pt x="680085" y="2640584"/>
                  </a:cubicBezTo>
                  <a:lnTo>
                    <a:pt x="113411" y="2640584"/>
                  </a:lnTo>
                  <a:cubicBezTo>
                    <a:pt x="50800" y="2640584"/>
                    <a:pt x="0" y="2589784"/>
                    <a:pt x="0" y="2527173"/>
                  </a:cubicBezTo>
                  <a:close/>
                </a:path>
              </a:pathLst>
            </a:custGeom>
            <a:solidFill>
              <a:srgbClr val="7B61D1"/>
            </a:solidFill>
            <a:ln w="19050" cap="sq">
              <a:solidFill>
                <a:srgbClr val="7B61D1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995547" y="2747391"/>
            <a:ext cx="595122" cy="2199894"/>
            <a:chOff x="0" y="0"/>
            <a:chExt cx="793496" cy="29331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3496" cy="2933192"/>
            </a:xfrm>
            <a:custGeom>
              <a:avLst/>
              <a:gdLst/>
              <a:ahLst/>
              <a:cxnLst/>
              <a:rect r="r" b="b" t="t" l="l"/>
              <a:pathLst>
                <a:path h="2933192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819781"/>
                  </a:lnTo>
                  <a:cubicBezTo>
                    <a:pt x="793496" y="2882392"/>
                    <a:pt x="742696" y="2933192"/>
                    <a:pt x="680085" y="2933192"/>
                  </a:cubicBezTo>
                  <a:lnTo>
                    <a:pt x="113411" y="2933192"/>
                  </a:lnTo>
                  <a:cubicBezTo>
                    <a:pt x="50800" y="2933192"/>
                    <a:pt x="0" y="2882392"/>
                    <a:pt x="0" y="2819781"/>
                  </a:cubicBezTo>
                  <a:close/>
                </a:path>
              </a:pathLst>
            </a:custGeom>
            <a:solidFill>
              <a:srgbClr val="F9A77E"/>
            </a:solidFill>
            <a:ln w="19050" cap="sq">
              <a:solidFill>
                <a:srgbClr val="F9A77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653915" y="3076575"/>
            <a:ext cx="595122" cy="1870710"/>
            <a:chOff x="0" y="0"/>
            <a:chExt cx="793496" cy="2494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3496" cy="2494280"/>
            </a:xfrm>
            <a:custGeom>
              <a:avLst/>
              <a:gdLst/>
              <a:ahLst/>
              <a:cxnLst/>
              <a:rect r="r" b="b" t="t" l="l"/>
              <a:pathLst>
                <a:path h="2494280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380869"/>
                  </a:lnTo>
                  <a:cubicBezTo>
                    <a:pt x="793496" y="2443480"/>
                    <a:pt x="742696" y="2494280"/>
                    <a:pt x="680085" y="2494280"/>
                  </a:cubicBezTo>
                  <a:lnTo>
                    <a:pt x="113411" y="2494280"/>
                  </a:lnTo>
                  <a:cubicBezTo>
                    <a:pt x="50800" y="2494280"/>
                    <a:pt x="0" y="2443480"/>
                    <a:pt x="0" y="2380869"/>
                  </a:cubicBezTo>
                  <a:close/>
                </a:path>
              </a:pathLst>
            </a:custGeom>
            <a:solidFill>
              <a:srgbClr val="FFC23D"/>
            </a:solidFill>
            <a:ln w="19050" cap="sq">
              <a:solidFill>
                <a:srgbClr val="FFC23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312283" y="2857119"/>
            <a:ext cx="595122" cy="2090166"/>
            <a:chOff x="0" y="0"/>
            <a:chExt cx="793496" cy="27868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3496" cy="2786888"/>
            </a:xfrm>
            <a:custGeom>
              <a:avLst/>
              <a:gdLst/>
              <a:ahLst/>
              <a:cxnLst/>
              <a:rect r="r" b="b" t="t" l="l"/>
              <a:pathLst>
                <a:path h="2786888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673477"/>
                  </a:lnTo>
                  <a:cubicBezTo>
                    <a:pt x="793496" y="2736088"/>
                    <a:pt x="742696" y="2786888"/>
                    <a:pt x="680085" y="2786888"/>
                  </a:cubicBezTo>
                  <a:lnTo>
                    <a:pt x="113411" y="2786888"/>
                  </a:lnTo>
                  <a:cubicBezTo>
                    <a:pt x="50800" y="2786888"/>
                    <a:pt x="0" y="2736088"/>
                    <a:pt x="0" y="2673477"/>
                  </a:cubicBezTo>
                  <a:close/>
                </a:path>
              </a:pathLst>
            </a:custGeom>
            <a:solidFill>
              <a:srgbClr val="EF6A45"/>
            </a:solidFill>
            <a:ln w="19050" cap="sq">
              <a:solidFill>
                <a:srgbClr val="EF6A45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970651" y="2637663"/>
            <a:ext cx="595122" cy="2309622"/>
            <a:chOff x="0" y="0"/>
            <a:chExt cx="793496" cy="3079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3496" cy="3079496"/>
            </a:xfrm>
            <a:custGeom>
              <a:avLst/>
              <a:gdLst/>
              <a:ahLst/>
              <a:cxnLst/>
              <a:rect r="r" b="b" t="t" l="l"/>
              <a:pathLst>
                <a:path h="3079496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966085"/>
                  </a:lnTo>
                  <a:cubicBezTo>
                    <a:pt x="793496" y="3028696"/>
                    <a:pt x="742696" y="3079496"/>
                    <a:pt x="680085" y="3079496"/>
                  </a:cubicBezTo>
                  <a:lnTo>
                    <a:pt x="113411" y="3079496"/>
                  </a:lnTo>
                  <a:cubicBezTo>
                    <a:pt x="50800" y="3079496"/>
                    <a:pt x="0" y="3028696"/>
                    <a:pt x="0" y="2966085"/>
                  </a:cubicBezTo>
                  <a:close/>
                </a:path>
              </a:pathLst>
            </a:custGeom>
            <a:solidFill>
              <a:srgbClr val="3FB5A6"/>
            </a:solidFill>
            <a:ln w="19050" cap="sq">
              <a:solidFill>
                <a:srgbClr val="3FB5A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629019" y="2966847"/>
            <a:ext cx="595122" cy="1980438"/>
            <a:chOff x="0" y="0"/>
            <a:chExt cx="793496" cy="26405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3496" cy="2640584"/>
            </a:xfrm>
            <a:custGeom>
              <a:avLst/>
              <a:gdLst/>
              <a:ahLst/>
              <a:cxnLst/>
              <a:rect r="r" b="b" t="t" l="l"/>
              <a:pathLst>
                <a:path h="2640584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527173"/>
                  </a:lnTo>
                  <a:cubicBezTo>
                    <a:pt x="793496" y="2589784"/>
                    <a:pt x="742696" y="2640584"/>
                    <a:pt x="680085" y="2640584"/>
                  </a:cubicBezTo>
                  <a:lnTo>
                    <a:pt x="113411" y="2640584"/>
                  </a:lnTo>
                  <a:cubicBezTo>
                    <a:pt x="50800" y="2640584"/>
                    <a:pt x="0" y="2589784"/>
                    <a:pt x="0" y="2527173"/>
                  </a:cubicBezTo>
                  <a:close/>
                </a:path>
              </a:pathLst>
            </a:custGeom>
            <a:solidFill>
              <a:srgbClr val="7B61D1"/>
            </a:solidFill>
            <a:ln w="19050" cap="sq">
              <a:solidFill>
                <a:srgbClr val="7B61D1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287387" y="2747391"/>
            <a:ext cx="595122" cy="2199894"/>
            <a:chOff x="0" y="0"/>
            <a:chExt cx="793496" cy="29331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3496" cy="2933192"/>
            </a:xfrm>
            <a:custGeom>
              <a:avLst/>
              <a:gdLst/>
              <a:ahLst/>
              <a:cxnLst/>
              <a:rect r="r" b="b" t="t" l="l"/>
              <a:pathLst>
                <a:path h="2933192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819781"/>
                  </a:lnTo>
                  <a:cubicBezTo>
                    <a:pt x="793496" y="2882392"/>
                    <a:pt x="742696" y="2933192"/>
                    <a:pt x="680085" y="2933192"/>
                  </a:cubicBezTo>
                  <a:lnTo>
                    <a:pt x="113411" y="2933192"/>
                  </a:lnTo>
                  <a:cubicBezTo>
                    <a:pt x="50800" y="2933192"/>
                    <a:pt x="0" y="2882392"/>
                    <a:pt x="0" y="2819781"/>
                  </a:cubicBezTo>
                  <a:close/>
                </a:path>
              </a:pathLst>
            </a:custGeom>
            <a:solidFill>
              <a:srgbClr val="F9A77E"/>
            </a:solidFill>
            <a:ln w="19050" cap="sq">
              <a:solidFill>
                <a:srgbClr val="F9A77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945755" y="3076575"/>
            <a:ext cx="595122" cy="1870710"/>
            <a:chOff x="0" y="0"/>
            <a:chExt cx="793496" cy="2494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3496" cy="2494280"/>
            </a:xfrm>
            <a:custGeom>
              <a:avLst/>
              <a:gdLst/>
              <a:ahLst/>
              <a:cxnLst/>
              <a:rect r="r" b="b" t="t" l="l"/>
              <a:pathLst>
                <a:path h="2494280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380869"/>
                  </a:lnTo>
                  <a:cubicBezTo>
                    <a:pt x="793496" y="2443480"/>
                    <a:pt x="742696" y="2494280"/>
                    <a:pt x="680085" y="2494280"/>
                  </a:cubicBezTo>
                  <a:lnTo>
                    <a:pt x="113411" y="2494280"/>
                  </a:lnTo>
                  <a:cubicBezTo>
                    <a:pt x="50800" y="2494280"/>
                    <a:pt x="0" y="2443480"/>
                    <a:pt x="0" y="2380869"/>
                  </a:cubicBezTo>
                  <a:close/>
                </a:path>
              </a:pathLst>
            </a:custGeom>
            <a:solidFill>
              <a:srgbClr val="FFC23D"/>
            </a:solidFill>
            <a:ln w="19050" cap="sq">
              <a:solidFill>
                <a:srgbClr val="FFC23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604123" y="2857119"/>
            <a:ext cx="595122" cy="2090166"/>
            <a:chOff x="0" y="0"/>
            <a:chExt cx="793496" cy="27868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3496" cy="2786888"/>
            </a:xfrm>
            <a:custGeom>
              <a:avLst/>
              <a:gdLst/>
              <a:ahLst/>
              <a:cxnLst/>
              <a:rect r="r" b="b" t="t" l="l"/>
              <a:pathLst>
                <a:path h="2786888" w="793496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680085" y="0"/>
                  </a:lnTo>
                  <a:cubicBezTo>
                    <a:pt x="742696" y="0"/>
                    <a:pt x="793496" y="50800"/>
                    <a:pt x="793496" y="113411"/>
                  </a:cubicBezTo>
                  <a:lnTo>
                    <a:pt x="793496" y="2673477"/>
                  </a:lnTo>
                  <a:cubicBezTo>
                    <a:pt x="793496" y="2736088"/>
                    <a:pt x="742696" y="2786888"/>
                    <a:pt x="680085" y="2786888"/>
                  </a:cubicBezTo>
                  <a:lnTo>
                    <a:pt x="113411" y="2786888"/>
                  </a:lnTo>
                  <a:cubicBezTo>
                    <a:pt x="50800" y="2786888"/>
                    <a:pt x="0" y="2736088"/>
                    <a:pt x="0" y="2673477"/>
                  </a:cubicBezTo>
                  <a:close/>
                </a:path>
              </a:pathLst>
            </a:custGeom>
            <a:solidFill>
              <a:srgbClr val="EF6A45"/>
            </a:solidFill>
            <a:ln w="19050" cap="sq">
              <a:solidFill>
                <a:srgbClr val="EF6A4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252966" y="2637663"/>
            <a:ext cx="666347" cy="2319147"/>
            <a:chOff x="0" y="0"/>
            <a:chExt cx="888462" cy="30921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8462" cy="3092196"/>
            </a:xfrm>
            <a:custGeom>
              <a:avLst/>
              <a:gdLst/>
              <a:ahLst/>
              <a:cxnLst/>
              <a:rect r="r" b="b" t="t" l="l"/>
              <a:pathLst>
                <a:path h="3092196" w="888462">
                  <a:moveTo>
                    <a:pt x="0" y="126921"/>
                  </a:moveTo>
                  <a:cubicBezTo>
                    <a:pt x="0" y="56784"/>
                    <a:pt x="38480" y="0"/>
                    <a:pt x="86008" y="0"/>
                  </a:cubicBezTo>
                  <a:lnTo>
                    <a:pt x="802454" y="0"/>
                  </a:lnTo>
                  <a:cubicBezTo>
                    <a:pt x="849983" y="0"/>
                    <a:pt x="888462" y="56784"/>
                    <a:pt x="888462" y="126921"/>
                  </a:cubicBezTo>
                  <a:lnTo>
                    <a:pt x="888462" y="2965275"/>
                  </a:lnTo>
                  <a:cubicBezTo>
                    <a:pt x="888462" y="3035412"/>
                    <a:pt x="849983" y="3092196"/>
                    <a:pt x="802454" y="3092196"/>
                  </a:cubicBezTo>
                  <a:lnTo>
                    <a:pt x="86008" y="3092196"/>
                  </a:lnTo>
                  <a:cubicBezTo>
                    <a:pt x="38480" y="3092196"/>
                    <a:pt x="0" y="3035412"/>
                    <a:pt x="0" y="2965275"/>
                  </a:cubicBezTo>
                  <a:close/>
                </a:path>
              </a:pathLst>
            </a:custGeom>
            <a:solidFill>
              <a:srgbClr val="7B61D1"/>
            </a:solidFill>
            <a:ln w="38100" cap="sq">
              <a:solidFill>
                <a:srgbClr val="7B61D1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87755" y="4928235"/>
            <a:ext cx="9071610" cy="238506"/>
            <a:chOff x="0" y="0"/>
            <a:chExt cx="12095480" cy="3180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095480" cy="317881"/>
            </a:xfrm>
            <a:custGeom>
              <a:avLst/>
              <a:gdLst/>
              <a:ahLst/>
              <a:cxnLst/>
              <a:rect r="r" b="b" t="t" l="l"/>
              <a:pathLst>
                <a:path h="317881" w="12095480">
                  <a:moveTo>
                    <a:pt x="0" y="99314"/>
                  </a:moveTo>
                  <a:cubicBezTo>
                    <a:pt x="0" y="44450"/>
                    <a:pt x="44450" y="0"/>
                    <a:pt x="99314" y="0"/>
                  </a:cubicBezTo>
                  <a:lnTo>
                    <a:pt x="11996039" y="0"/>
                  </a:lnTo>
                  <a:cubicBezTo>
                    <a:pt x="12050903" y="0"/>
                    <a:pt x="12095480" y="44450"/>
                    <a:pt x="12095480" y="99314"/>
                  </a:cubicBezTo>
                  <a:lnTo>
                    <a:pt x="12095480" y="218567"/>
                  </a:lnTo>
                  <a:cubicBezTo>
                    <a:pt x="12095480" y="273431"/>
                    <a:pt x="12051030" y="317881"/>
                    <a:pt x="11996039" y="317881"/>
                  </a:cubicBezTo>
                  <a:lnTo>
                    <a:pt x="99314" y="317881"/>
                  </a:lnTo>
                  <a:cubicBezTo>
                    <a:pt x="44450" y="318008"/>
                    <a:pt x="0" y="273558"/>
                    <a:pt x="0" y="218567"/>
                  </a:cubicBezTo>
                  <a:close/>
                </a:path>
              </a:pathLst>
            </a:custGeom>
            <a:solidFill>
              <a:srgbClr val="B9A6F2"/>
            </a:solidFill>
            <a:ln w="19050" cap="sq">
              <a:solidFill>
                <a:srgbClr val="B9A6F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309360" y="850392"/>
            <a:ext cx="1851660" cy="1992649"/>
            <a:chOff x="0" y="0"/>
            <a:chExt cx="2468880" cy="2656865"/>
          </a:xfrm>
        </p:grpSpPr>
        <p:sp>
          <p:nvSpPr>
            <p:cNvPr name="Freeform 32" id="32" descr="/home/claude/assets/hoopoe.png"/>
            <p:cNvSpPr/>
            <p:nvPr/>
          </p:nvSpPr>
          <p:spPr>
            <a:xfrm flipH="false" flipV="false" rot="0">
              <a:off x="0" y="0"/>
              <a:ext cx="2468880" cy="2656840"/>
            </a:xfrm>
            <a:custGeom>
              <a:avLst/>
              <a:gdLst/>
              <a:ahLst/>
              <a:cxnLst/>
              <a:rect r="r" b="b" t="t" l="l"/>
              <a:pathLst>
                <a:path h="2656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656840"/>
                  </a:lnTo>
                  <a:lnTo>
                    <a:pt x="0" y="2656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97280" y="5644515"/>
            <a:ext cx="16322040" cy="237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316"/>
              </a:lnSpc>
            </a:pPr>
            <a:r>
              <a:rPr lang="ar-EG" b="true" sz="6600">
                <a:solidFill>
                  <a:srgbClr val="FFFFFF"/>
                </a:solidFill>
                <a:latin typeface="Cairo Bold"/>
                <a:ea typeface="Cairo Bold"/>
                <a:cs typeface="Cairo Bold"/>
                <a:sym typeface="Cairo Bold"/>
                <a:rtl val="true"/>
              </a:rPr>
              <a:t>كل يومٍ في حياة طفل…</a:t>
            </a:r>
          </a:p>
          <a:p>
            <a:pPr algn="r" rtl="true">
              <a:lnSpc>
                <a:spcPts val="8316"/>
              </a:lnSpc>
            </a:pPr>
            <a:r>
              <a:rPr lang="ar-EG" b="true" sz="6600">
                <a:solidFill>
                  <a:srgbClr val="FFFFFF"/>
                </a:solidFill>
                <a:latin typeface="Cairo Bold"/>
                <a:ea typeface="Cairo Bold"/>
                <a:cs typeface="Cairo Bold"/>
                <a:sym typeface="Cairo Bold"/>
                <a:rtl val="true"/>
              </a:rPr>
              <a:t>حكايةٌ تستحق أن تُقرأ.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97280" y="8092440"/>
            <a:ext cx="16322040" cy="891540"/>
            <a:chOff x="0" y="0"/>
            <a:chExt cx="21762720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5040"/>
                </a:lnSpc>
              </a:pPr>
              <a:r>
                <a:rPr lang="ar-EG" b="true" sz="4200">
                  <a:solidFill>
                    <a:srgbClr val="F9A77E"/>
                  </a:solidFill>
                  <a:latin typeface="Cairo Bold"/>
                  <a:ea typeface="Cairo Bold"/>
                  <a:cs typeface="Cairo Bold"/>
                  <a:sym typeface="Cairo Bold"/>
                  <a:rtl val="true"/>
                </a:rPr>
                <a:t>الليلة… ماذا سيحكي طفلك؟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979140" y="1783080"/>
            <a:ext cx="1440180" cy="1440180"/>
            <a:chOff x="0" y="0"/>
            <a:chExt cx="1920240" cy="1920240"/>
          </a:xfrm>
        </p:grpSpPr>
        <p:sp>
          <p:nvSpPr>
            <p:cNvPr name="Freeform 38" id="38" descr="/home/claude/assets/logo.png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247120" y="3360420"/>
            <a:ext cx="6172200" cy="822960"/>
            <a:chOff x="0" y="0"/>
            <a:chExt cx="822960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29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8229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 rtl="true">
                <a:lnSpc>
                  <a:spcPts val="4680"/>
                </a:lnSpc>
              </a:pPr>
              <a:r>
                <a:rPr lang="ar-EG" b="true" sz="3900">
                  <a:solidFill>
                    <a:srgbClr val="FFFFFF"/>
                  </a:solidFill>
                  <a:latin typeface="Cairo Bold"/>
                  <a:ea typeface="Cairo Bold"/>
                  <a:cs typeface="Cairo Bold"/>
                  <a:sym typeface="Cairo Bold"/>
                  <a:rtl val="true"/>
                </a:rPr>
                <a:t>القارئ الصغير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i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i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القارئ الصغير | Little Reader</dc:title>
  <dc:subject>PptxGenJS Presentation</dc:subject>
  <dc:creator>PptxGenJS</dc:creator>
  <cp:lastModifiedBy>PptxGenJS</cp:lastModifiedBy>
  <cp:revision>1</cp:revision>
  <dcterms:created xsi:type="dcterms:W3CDTF">2026-10-19T21:45:29Z</dcterms:created>
  <dcterms:modified xsi:type="dcterms:W3CDTF">2026-10-19T21:45:29Z</dcterms:modified>
</cp:coreProperties>
</file>